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6858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Problem Statement ID: </a:t>
            </a:r>
            <a:r>
              <a:rPr sz="1300" b="1" dirty="0">
                <a:solidFill>
                  <a:srgbClr val="1E293B"/>
                </a:solidFill>
                <a:latin typeface="Calibri"/>
              </a:rPr>
              <a:t>SIH</a:t>
            </a:r>
            <a:r>
              <a:rPr lang="en-IN" sz="1300" b="1" dirty="0">
                <a:solidFill>
                  <a:srgbClr val="1E293B"/>
                </a:solidFill>
                <a:latin typeface="Calibri"/>
              </a:rPr>
              <a:t>26033</a:t>
            </a:r>
            <a:endParaRPr lang="en-US" dirty="0"/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Problem Statement Title: 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Direct Farmgate-to-Enterprise Marketplace &amp; Cold-Chain Supply Chain Management Platform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Theme: </a:t>
            </a:r>
            <a:r>
              <a:rPr sz="1300" b="1" dirty="0">
                <a:solidFill>
                  <a:srgbClr val="10784B"/>
                </a:solidFill>
                <a:latin typeface="Calibri"/>
              </a:rPr>
              <a:t>Agriculture, </a:t>
            </a:r>
            <a:r>
              <a:rPr sz="1300" b="1" dirty="0" err="1">
                <a:solidFill>
                  <a:srgbClr val="10784B"/>
                </a:solidFill>
                <a:latin typeface="Calibri"/>
              </a:rPr>
              <a:t>FoodTech</a:t>
            </a:r>
            <a:r>
              <a:rPr sz="1300" b="1" dirty="0">
                <a:solidFill>
                  <a:srgbClr val="10784B"/>
                </a:solidFill>
                <a:latin typeface="Calibri"/>
              </a:rPr>
              <a:t> &amp; Rural Development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PS Category: 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Software  (with Cold-Chain IoT Simulation)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Team ID: 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[Your Registered Team ID]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Team Name: </a:t>
            </a:r>
            <a:r>
              <a:rPr sz="1300" b="1" dirty="0">
                <a:solidFill>
                  <a:srgbClr val="10784B"/>
                </a:solidFill>
                <a:latin typeface="Calibri"/>
              </a:rPr>
              <a:t>Farm2Future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dirty="0">
                <a:solidFill>
                  <a:srgbClr val="0F172A"/>
                </a:solidFill>
                <a:latin typeface="Calibri"/>
              </a:rPr>
              <a:t>Live Prototype URL: </a:t>
            </a:r>
            <a:r>
              <a:rPr sz="1300" b="0" dirty="0">
                <a:solidFill>
                  <a:srgbClr val="1E293B"/>
                </a:solidFill>
                <a:latin typeface="Calibri"/>
              </a:rPr>
              <a:t>https://disturbed-bacteria-sons-putting.trycloudflare.com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l" eaLnBrk="1" hangingPunct="1"/>
            <a:r>
              <a:rPr sz="1800" b="1">
                <a:solidFill>
                  <a:srgbClr val="0F172A"/>
                </a:solidFill>
                <a:latin typeface="Calibri"/>
              </a:rPr>
              <a:t>Farm2Future: AI-Driven Farmgate Marketplace &amp; Cold-Chain Logistics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143000"/>
            <a:ext cx="1115568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0784B"/>
                </a:solidFill>
                <a:latin typeface="Calibri"/>
              </a:rPr>
              <a:t>1. Proposed Solution (Idea &amp; Working Prototype Overview)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Direct Agri E-Commerce Ecosystem: </a:t>
            </a:r>
            <a:r>
              <a:rPr sz="1000" b="0">
                <a:solidFill>
                  <a:srgbClr val="1E293B"/>
                </a:solidFill>
                <a:latin typeface="Calibri"/>
              </a:rPr>
              <a:t>Eliminates exploitative middlemen (Arhtiyas) by directly linking smallholder farmers to bulk institutional buyers (retailers, food processors, exporters, cloud kitchens).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Integrated 4-Role Architecture: </a:t>
            </a:r>
            <a:r>
              <a:rPr sz="1000" b="0">
                <a:solidFill>
                  <a:srgbClr val="1E293B"/>
                </a:solidFill>
                <a:latin typeface="Calibri"/>
              </a:rPr>
              <a:t>Unified role-based platform comprising: Farmer Portal (Voice AI + Mandi Intelligence), Buyer Portal (Bulk Demand Pooling + Escrow Payments), Collection Hub Operator (NABL Weighbridge &amp; QC Certification), and Fleet Dispatch Manager (Reefer Cold Telemetry).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 b="1">
                <a:solidFill>
                  <a:srgbClr val="1A56DB"/>
                </a:solidFill>
                <a:latin typeface="Calibri"/>
              </a:rPr>
              <a:t>2. Detailed Explanation of the Proposed Solution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Real-Time Mandi Price Intelligence: </a:t>
            </a:r>
            <a:r>
              <a:rPr sz="1000" b="0">
                <a:solidFill>
                  <a:srgbClr val="1E293B"/>
                </a:solidFill>
                <a:latin typeface="Calibri"/>
              </a:rPr>
              <a:t>Integrates live AGMARKNET &amp; eNAM benchmark data with an AI pricing algorithm that recommends fair market selling rates strictly above local APMC mandis and MSP floor rates.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Dual-Trigger Multi-Sig Escrow Vault: </a:t>
            </a:r>
            <a:r>
              <a:rPr sz="1000" b="0">
                <a:solidFill>
                  <a:srgbClr val="1E293B"/>
                </a:solidFill>
                <a:latin typeface="Calibri"/>
              </a:rPr>
              <a:t>100% order payment is locked upfront into a secure digital escrow vault before harvest loading, guaranteeing zero buyer payment defaults and automatic direct DBT bank disbursal within 2 hours of delivery.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Active Cold-Chain Telemetry Simulator: </a:t>
            </a:r>
            <a:r>
              <a:rPr sz="1000" b="0">
                <a:solidFill>
                  <a:srgbClr val="1E293B"/>
                </a:solidFill>
                <a:latin typeface="Calibri"/>
              </a:rPr>
              <a:t>Live GPS tracking, temperature (2°C-14°C), and humidity telemetry with automatic re-routing and audible breach alarms to safeguard perishable high-value horticultural crops.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 b="1">
                <a:solidFill>
                  <a:srgbClr val="B45309"/>
                </a:solidFill>
                <a:latin typeface="Calibri"/>
              </a:rPr>
              <a:t>3. How It Addresses the Problem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Cuts 15-25% Intermediary Margin Cuts: </a:t>
            </a:r>
            <a:r>
              <a:rPr sz="1000" b="0">
                <a:solidFill>
                  <a:srgbClr val="1E293B"/>
                </a:solidFill>
                <a:latin typeface="Calibri"/>
              </a:rPr>
              <a:t>Farmers retain 98.5% of final crop realization value with zero listing or registration fees.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Prevents 30-40% Post-Harvest Perishability Spoilage: </a:t>
            </a:r>
            <a:r>
              <a:rPr sz="1000" b="0">
                <a:solidFill>
                  <a:srgbClr val="1E293B"/>
                </a:solidFill>
                <a:latin typeface="Calibri"/>
              </a:rPr>
              <a:t>Scheduled cold transport and pre-dispatch NABL testing at intake collection hubs preserve nutritional value and shelf-life.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Eliminates 30-60 Day Delayed Payment Cycles: </a:t>
            </a:r>
            <a:r>
              <a:rPr sz="1000" b="0">
                <a:solidFill>
                  <a:srgbClr val="1E293B"/>
                </a:solidFill>
                <a:latin typeface="Calibri"/>
              </a:rPr>
              <a:t>Automated escrow release replaces credit-based non-transparent payments with same-day DBT settlement.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4. Innovation and Uniqueness of the Solution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AI Load-Truck Auto-Matcher: </a:t>
            </a:r>
            <a:r>
              <a:rPr sz="1000" b="0">
                <a:solidFill>
                  <a:srgbClr val="1E293B"/>
                </a:solidFill>
                <a:latin typeface="Calibri"/>
              </a:rPr>
              <a:t>Heuristic auto-assignment algorithm matching cargo tonnage, temperature requirements, and route radius to available refrigerated trucks.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Dynamic Stakeholder Scope Switcher: </a:t>
            </a:r>
            <a:r>
              <a:rPr sz="1000" b="0">
                <a:solidFill>
                  <a:srgbClr val="1E293B"/>
                </a:solidFill>
                <a:latin typeface="Calibri"/>
              </a:rPr>
              <a:t>Instant toggle between live verified database accounts (real-time KYC) and 17,190+ upcoming seasonal harvest network (4 FPO clusters + 3 corporate buyers).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Farm2Future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sz="1800" b="1">
                <a:solidFill>
                  <a:srgbClr val="0F172A"/>
                </a:solidFill>
                <a:latin typeface="Calibri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43000"/>
            <a:ext cx="1115568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0784B"/>
                </a:solidFill>
                <a:latin typeface="Calibri"/>
              </a:rPr>
              <a:t>1. Technologies &amp; Toolstack (Production-Ready Architecture)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Frontend &amp; Client Framework: </a:t>
            </a:r>
            <a:r>
              <a:rPr sz="1000" b="0">
                <a:solidFill>
                  <a:srgbClr val="1E293B"/>
                </a:solidFill>
                <a:latin typeface="Calibri"/>
              </a:rPr>
              <a:t>React 18, TypeScript, Tailwind CSS, Vite, Lucide Icons, Recharts (dynamic price &amp; telemetry graphs), responsive cross-device layout.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Distributed Database &amp; Storage: </a:t>
            </a:r>
            <a:r>
              <a:rPr sz="1000" b="0">
                <a:solidFill>
                  <a:srgbClr val="1E293B"/>
                </a:solidFill>
                <a:latin typeface="Calibri"/>
              </a:rPr>
              <a:t>Turso Cloud Distributed LibSQL (9 GB LibSQL database with &lt;15ms edge replica response) + LocalStorage PWA offline cache with tombstone sync.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AI / ML &amp; Algorithmic Engines: </a:t>
            </a:r>
            <a:r>
              <a:rPr sz="1000" b="0">
                <a:solidFill>
                  <a:srgbClr val="1E293B"/>
                </a:solidFill>
                <a:latin typeface="Calibri"/>
              </a:rPr>
              <a:t>AI APMC Price Optimization Model, Haversine Geospatial Hyperlocal Radar (0-150 km transport calculation @ Rs. 28/km), AI Reefer Truck Auto-Allocation Engine.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Security, Authentication &amp; KYC: </a:t>
            </a:r>
            <a:r>
              <a:rPr sz="1000" b="0">
                <a:solidFill>
                  <a:srgbClr val="1E293B"/>
                </a:solidFill>
                <a:latin typeface="Calibri"/>
              </a:rPr>
              <a:t>Multi-role session manager (Farmer, Buyer, Hub, Admin), Biometric Aadhaar &amp; Land Record KYC verification, VAHAN Driver Compliance Registry.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Bidirectional Language Engine: </a:t>
            </a:r>
            <a:r>
              <a:rPr sz="1000" b="0">
                <a:solidFill>
                  <a:srgbClr val="1E293B"/>
                </a:solidFill>
                <a:latin typeface="Calibri"/>
              </a:rPr>
              <a:t>Zero-latency real-time DOM translation engine supporting 100% Pure Hindi and English across all UI modals, inputs, and alerts.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 b="1">
                <a:solidFill>
                  <a:srgbClr val="1A56DB"/>
                </a:solidFill>
                <a:latin typeface="Calibri"/>
              </a:rPr>
              <a:t>2. Methodology and Process for Implementation (End-to-End Workflow)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Stage 1 [Listing &amp; Smart Pricing]: </a:t>
            </a:r>
            <a:r>
              <a:rPr sz="1000" b="0">
                <a:solidFill>
                  <a:srgbClr val="1E293B"/>
                </a:solidFill>
                <a:latin typeface="Calibri"/>
              </a:rPr>
              <a:t>Farmer lists crop lot (Voice/Text) -&gt; AI benchmarks nearest mandi &amp; MSP -&gt; Recommends optimal selling price with net profit calculator.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Stage 2 [Order &amp; Escrow Lock]: </a:t>
            </a:r>
            <a:r>
              <a:rPr sz="1000" b="0">
                <a:solidFill>
                  <a:srgbClr val="1E293B"/>
                </a:solidFill>
                <a:latin typeface="Calibri"/>
              </a:rPr>
              <a:t>Institutional buyer orders lot or creates bulk pool -&gt; 100% order value locked in Multi-Sig Escrow Vault (Zero default risk).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Stage 3 [Intake Bay &amp; NABL QC]: </a:t>
            </a:r>
            <a:r>
              <a:rPr sz="1000" b="0">
                <a:solidFill>
                  <a:srgbClr val="1E293B"/>
                </a:solidFill>
                <a:latin typeface="Calibri"/>
              </a:rPr>
              <a:t>Harvest arrives at Collection Centre (Bays 1-4) -&gt; Weighbridge calibrated tare verification -&gt; NABL lab generates Grade A/B Quality Certificate.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Stage 4 [AI Fleet Dispatch &amp; Transit]: </a:t>
            </a:r>
            <a:r>
              <a:rPr sz="1000" b="0">
                <a:solidFill>
                  <a:srgbClr val="1E293B"/>
                </a:solidFill>
                <a:latin typeface="Calibri"/>
              </a:rPr>
              <a:t>Optimal refrigerated truck assigned via AI Auto-Match -&gt; Live GPS telemetry simulator streams temperature and transit progress.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Stage 5 [Delivery &amp; DBT Settlement]: </a:t>
            </a:r>
            <a:r>
              <a:rPr sz="1000" b="0">
                <a:solidFill>
                  <a:srgbClr val="1E293B"/>
                </a:solidFill>
                <a:latin typeface="Calibri"/>
              </a:rPr>
              <a:t>Geofenced delivery confirmation triggers dual-release escrow -&gt; Funds credited directly to farmer bank account within 2 hours.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Farm2Future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sz="1800" b="1">
                <a:solidFill>
                  <a:srgbClr val="0F172A"/>
                </a:solidFill>
                <a:latin typeface="Calibri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43000"/>
            <a:ext cx="1115568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0784B"/>
                </a:solidFill>
                <a:latin typeface="Calibri"/>
              </a:rPr>
              <a:t>1. Multi-Dimensional Feasibility Analysis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Technical Feasibility (High): </a:t>
            </a:r>
            <a:r>
              <a:rPr sz="1000" b="0">
                <a:solidFill>
                  <a:srgbClr val="1E293B"/>
                </a:solidFill>
                <a:latin typeface="Calibri"/>
              </a:rPr>
              <a:t>Fully working SPA prototype with React 18, Turso Cloud DB, and simulated cold telemetry already deployed and publicly accessible via Cloudflare tunnel.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Operational Feasibility (High): </a:t>
            </a:r>
            <a:r>
              <a:rPr sz="1000" b="0">
                <a:solidFill>
                  <a:srgbClr val="1E293B"/>
                </a:solidFill>
                <a:latin typeface="Calibri"/>
              </a:rPr>
              <a:t>Leverages existing physical APMC collection hubs, FCI cold storage facilities, and state-registered transport trucks without requiring capital expenditure on real estate.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Commercial &amp; Financial Viability: </a:t>
            </a:r>
            <a:r>
              <a:rPr sz="1000" b="0">
                <a:solidFill>
                  <a:srgbClr val="1E293B"/>
                </a:solidFill>
                <a:latin typeface="Calibri"/>
              </a:rPr>
              <a:t>Sustainable unit economics: 100% free listing and onboarding for smallholder farmers; nominal 1.5% platform transaction fee on bulk corporate buyers funds cloud infrastructure and testing kits.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 b="1">
                <a:solidFill>
                  <a:srgbClr val="B45309"/>
                </a:solidFill>
                <a:latin typeface="Calibri"/>
              </a:rPr>
              <a:t>2. Potential Challenges and Operational Risks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Risk 1 [Digital Literacy &amp; Language]: </a:t>
            </a:r>
            <a:r>
              <a:rPr sz="1000" b="0">
                <a:solidFill>
                  <a:srgbClr val="1E293B"/>
                </a:solidFill>
                <a:latin typeface="Calibri"/>
              </a:rPr>
              <a:t>Hesitation among elderly smallholder farmers or non-English literate rural producers to adopt complex digital applications.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Risk 2 [Rural Network Connectivity Drops]: </a:t>
            </a:r>
            <a:r>
              <a:rPr sz="1000" b="0">
                <a:solidFill>
                  <a:srgbClr val="1E293B"/>
                </a:solidFill>
                <a:latin typeface="Calibri"/>
              </a:rPr>
              <a:t>Unstable 3G/4G cellular coverage in remote farmlands causing lost listings or incomplete transaction states.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Risk 3 [Produce Quality Disputes]: </a:t>
            </a:r>
            <a:r>
              <a:rPr sz="1000" b="0">
                <a:solidFill>
                  <a:srgbClr val="1E293B"/>
                </a:solidFill>
                <a:latin typeface="Calibri"/>
              </a:rPr>
              <a:t>Subjective post-arrival disagreements between buyer and farmer on crop grade, moisture, and rejection deductions.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Risk 4 [Cold Chain Logistics Breaches]: </a:t>
            </a:r>
            <a:r>
              <a:rPr sz="1000" b="0">
                <a:solidFill>
                  <a:srgbClr val="1E293B"/>
                </a:solidFill>
                <a:latin typeface="Calibri"/>
              </a:rPr>
              <a:t>Reefer vehicle mechanical failures or driver tampering leading to spoilage of perishable consignments.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3. Robust Strategies for Overcoming Challenges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Strategy 1 [100% Pure Hindi &amp; Voice Guidance]: </a:t>
            </a:r>
            <a:r>
              <a:rPr sz="1000" b="0">
                <a:solidFill>
                  <a:srgbClr val="1E293B"/>
                </a:solidFill>
                <a:latin typeface="Calibri"/>
              </a:rPr>
              <a:t>Complete bilingual localization, audio alerts, intuitive icon workflows, and village-level FPO coordinator onboarding support.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Strategy 2 [Offline-First LocalStorage Sync]: </a:t>
            </a:r>
            <a:r>
              <a:rPr sz="1000" b="0">
                <a:solidFill>
                  <a:srgbClr val="1E293B"/>
                </a:solidFill>
                <a:latin typeface="Calibri"/>
              </a:rPr>
              <a:t>Listings, orders, and telemetry cache locally in browser memory and automatically synchronize to Turso Cloud when network reconnects.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Strategy 3 [Pre-Dispatch NABL Hub Certification]: </a:t>
            </a:r>
            <a:r>
              <a:rPr sz="1000" b="0">
                <a:solidFill>
                  <a:srgbClr val="1E293B"/>
                </a:solidFill>
                <a:latin typeface="Calibri"/>
              </a:rPr>
              <a:t>Mandatory standardized lab testing at collection hubs issues a tamper-evident digital certificate *before* transit dispatch, binding both parties.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Strategy 4 [IoT Telemetry Simulator &amp; Alarms]: </a:t>
            </a:r>
            <a:r>
              <a:rPr sz="1000" b="0">
                <a:solidFill>
                  <a:srgbClr val="1E293B"/>
                </a:solidFill>
                <a:latin typeface="Calibri"/>
              </a:rPr>
              <a:t>Automated temperature threshold monitors (&gt;16°C triggers audible warning, automatic SMS dispatch alert, and rerouting to nearest cold hub).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Farm2Future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sz="1800" b="1" dirty="0">
                <a:solidFill>
                  <a:srgbClr val="0F172A"/>
                </a:solidFill>
                <a:latin typeface="Calibri"/>
              </a:rPr>
              <a:t>IMPACT AND QUANTIFIABLE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43000"/>
            <a:ext cx="1115568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0784B"/>
                </a:solidFill>
                <a:latin typeface="Calibri"/>
              </a:rPr>
              <a:t>1. Potential Impact on Target Stakeholders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Smallholder &amp; Marginal Farmers (14.8M+): </a:t>
            </a:r>
            <a:r>
              <a:rPr sz="1000" b="0">
                <a:solidFill>
                  <a:srgbClr val="1E293B"/>
                </a:solidFill>
                <a:latin typeface="Calibri"/>
              </a:rPr>
              <a:t>+20% to +35% Net Income Increase: Bypasses 15-25% commission agent cuts and unauthorized mandi charges; eliminates payment default risk via 100% upfront escrow locking.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Institutional Bulk Buyers (2.3M+): </a:t>
            </a:r>
            <a:r>
              <a:rPr sz="1000" b="0">
                <a:solidFill>
                  <a:srgbClr val="1E293B"/>
                </a:solidFill>
                <a:latin typeface="Calibri"/>
              </a:rPr>
              <a:t>15% Sourcing Cost Reduction: Disintermediates supply chains; guarantees NABL-certified moisture, grain size, and grade quality with scheduled doorstep reefer delivery.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Farmer Producer Organizations (FPOs): </a:t>
            </a:r>
            <a:r>
              <a:rPr sz="1000" b="0">
                <a:solidFill>
                  <a:srgbClr val="1E293B"/>
                </a:solidFill>
                <a:latin typeface="Calibri"/>
              </a:rPr>
              <a:t>Forward contract pooling Bay enables small clusters to aggregate 500T+ harvest lots and bid competitively for corporate supply tenders.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Logistics Providers &amp; Reefer Transporters: </a:t>
            </a:r>
            <a:r>
              <a:rPr sz="1000" b="0">
                <a:solidFill>
                  <a:srgbClr val="1E293B"/>
                </a:solidFill>
                <a:latin typeface="Calibri"/>
              </a:rPr>
              <a:t>Maximizes vehicle asset utilization with transparent per-km billing (Rs. 28/km), continuous trip allocation, and automated return-load matching.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 b="1">
                <a:solidFill>
                  <a:srgbClr val="1A56DB"/>
                </a:solidFill>
                <a:latin typeface="Calibri"/>
              </a:rPr>
              <a:t>2. Societal, Economic &amp; Environmental Benefits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Economic Inclusion &amp; Bank Credit: </a:t>
            </a:r>
            <a:r>
              <a:rPr sz="1000" b="0">
                <a:solidFill>
                  <a:srgbClr val="1E293B"/>
                </a:solidFill>
                <a:latin typeface="Calibri"/>
              </a:rPr>
              <a:t>Verified digital trade ledgers and Aadhaar KYC establish formal credit history, enabling farmers to access formal institutional bank loans and enhanced Kisan Credit Cards (KCC).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Social Equity &amp; Transparency: </a:t>
            </a:r>
            <a:r>
              <a:rPr sz="1000" b="0">
                <a:solidFill>
                  <a:srgbClr val="1E293B"/>
                </a:solidFill>
                <a:latin typeface="Calibri"/>
              </a:rPr>
              <a:t>Eliminates debt traps from exploitative informal moneylenders; empowers rural youth and women-led Self-Help Groups (SHGs) as certified hub managers.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Environmental Sustainability: </a:t>
            </a:r>
            <a:r>
              <a:rPr sz="1000" b="0">
                <a:solidFill>
                  <a:srgbClr val="1E293B"/>
                </a:solidFill>
                <a:latin typeface="Calibri"/>
              </a:rPr>
              <a:t>Temperature-controlled logistics cuts post-harvest food waste by up to 25%, drastically mitigating greenhouse gas emissions from rotting uncollected produce.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National Vision Alignment: </a:t>
            </a:r>
            <a:r>
              <a:rPr sz="1000" b="0">
                <a:solidFill>
                  <a:srgbClr val="1E293B"/>
                </a:solidFill>
                <a:latin typeface="Calibri"/>
              </a:rPr>
              <a:t>Directly advances Government of India agricultural programs: e-NAM expansion, PM-KISAN, PMKSY (Kisan SAMPADA Yojana), and Digital Agriculture Mission 2026.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Farm2Future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sz="1800" b="1">
                <a:solidFill>
                  <a:srgbClr val="0F172A"/>
                </a:solidFill>
                <a:latin typeface="Calibri"/>
              </a:rPr>
              <a:t>RESEARCH GROUNDING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43000"/>
            <a:ext cx="1115568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0784B"/>
                </a:solidFill>
                <a:latin typeface="Calibri"/>
              </a:rPr>
              <a:t>1. Government Policies, Standards &amp; National Reports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Ministry of Agriculture &amp; Farmers Welfare (MoA&amp;FW): </a:t>
            </a:r>
            <a:r>
              <a:rPr sz="1000" b="0">
                <a:solidFill>
                  <a:srgbClr val="1E293B"/>
                </a:solidFill>
                <a:latin typeface="Calibri"/>
              </a:rPr>
              <a:t>Committee on Doubling Farmers' Income (DFI Report, Vol. IV &amp; VIII - Post-Production Agri-Logistics &amp; Direct Marketing).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National Agriculture Market (e-NAM): </a:t>
            </a:r>
            <a:r>
              <a:rPr sz="1000" b="0">
                <a:solidFill>
                  <a:srgbClr val="1E293B"/>
                </a:solidFill>
                <a:latin typeface="Calibri"/>
              </a:rPr>
              <a:t>Operational Guidelines for Inter-State Mandi Trade, Electronic Warehouse Receipts (e-NWRs), and Unified License Framework (2025-26).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Ministry of Food Processing Industries (MoFPI): </a:t>
            </a:r>
            <a:r>
              <a:rPr sz="1000" b="0">
                <a:solidFill>
                  <a:srgbClr val="1E293B"/>
                </a:solidFill>
                <a:latin typeface="Calibri"/>
              </a:rPr>
              <a:t>Pradhan Mantri Kisan SAMPADA Yojana (PMKSY) - Integrated Cold Chain and Value Addition Infrastructure Norms.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APEDA Quality Export Protocols: </a:t>
            </a:r>
            <a:r>
              <a:rPr sz="1000" b="0">
                <a:solidFill>
                  <a:srgbClr val="1E293B"/>
                </a:solidFill>
                <a:latin typeface="Calibri"/>
              </a:rPr>
              <a:t>Export Standards for Non-Basmati &amp; Basmati Rice, Table Grapes, and Fresh Onions.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 b="1">
                <a:solidFill>
                  <a:srgbClr val="1A56DB"/>
                </a:solidFill>
                <a:latin typeface="Calibri"/>
              </a:rPr>
              <a:t>2. Academic Literature &amp; Technical Benchmarks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ICAR-CIPHET National Study: </a:t>
            </a:r>
            <a:r>
              <a:rPr sz="1000" b="0">
                <a:solidFill>
                  <a:srgbClr val="1E293B"/>
                </a:solidFill>
                <a:latin typeface="Calibri"/>
              </a:rPr>
              <a:t>Assessment of Quantitative Harvest and Post-Harvest Losses of Major Crops and Commodities in India (Documenting Rs. 92,651 Crore annual economic wastage).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NITI Aayog Policy Strategy (2024-25): </a:t>
            </a:r>
            <a:r>
              <a:rPr sz="1000" b="0">
                <a:solidFill>
                  <a:srgbClr val="1E293B"/>
                </a:solidFill>
                <a:latin typeface="Calibri"/>
              </a:rPr>
              <a:t>Transforming Indian Agriculture through Agritech, Direct Farmer-Buyer Linkages, and Decentralized Logistics.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IEEE Transactions on Engineering Management: </a:t>
            </a:r>
            <a:r>
              <a:rPr sz="1000" b="0">
                <a:solidFill>
                  <a:srgbClr val="1E293B"/>
                </a:solidFill>
                <a:latin typeface="Calibri"/>
              </a:rPr>
              <a:t>Smart Multi-Signature Escrow Vaults and IoT Sensor Telemetry in Perishable Agro-Supply Chains (2024).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3. Working Prototype &amp; Public Demonstration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Live Deployed Web Platform: </a:t>
            </a:r>
            <a:r>
              <a:rPr sz="1000" b="0">
                <a:solidFill>
                  <a:srgbClr val="1E293B"/>
                </a:solidFill>
                <a:latin typeface="Calibri"/>
              </a:rPr>
              <a:t>https://disturbed-bacteria-sons-putting.trycloudflare.com (Cloudflare Edge Tunnel, 100% Responsive, Bilingual).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sz="1000" b="1">
                <a:solidFill>
                  <a:srgbClr val="0F172A"/>
                </a:solidFill>
                <a:latin typeface="Calibri"/>
              </a:rPr>
              <a:t>• Production Tech Stack: </a:t>
            </a:r>
            <a:r>
              <a:rPr sz="1000" b="0">
                <a:solidFill>
                  <a:srgbClr val="1E293B"/>
                </a:solidFill>
                <a:latin typeface="Calibri"/>
              </a:rPr>
              <a:t>React 18 + TypeScript + Tailwind CSS + Turso Cloud Distributed LibSQL (9 GB) + Fleet Dispatch Telemetry Simulator.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Farm2Future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1678</Words>
  <Application>Microsoft Office PowerPoint</Application>
  <PresentationFormat>Widescreen</PresentationFormat>
  <Paragraphs>102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Farm2Future: AI-Driven Farmgate Marketplace &amp; Cold-Chain Logistics Platform</vt:lpstr>
      <vt:lpstr>TECHNICAL APPROACH &amp; SYSTEM ARCHITECTURE</vt:lpstr>
      <vt:lpstr>FEASIBILITY AND VIABILITY ANALYSIS</vt:lpstr>
      <vt:lpstr>IMPACT AND QUANTIFIABLE BENEFITS</vt:lpstr>
      <vt:lpstr>RESEARCH GROUNDING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 BHARDWAJ</cp:lastModifiedBy>
  <cp:revision>149</cp:revision>
  <dcterms:created xsi:type="dcterms:W3CDTF">2013-12-12T18:46:50Z</dcterms:created>
  <dcterms:modified xsi:type="dcterms:W3CDTF">2026-09-27T17:23:10Z</dcterms:modified>
  <cp:category/>
</cp:coreProperties>
</file>