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b="1" sz="1700">
                <a:solidFill>
                  <a:srgbClr val="0F172A"/>
                </a:solidFill>
              </a:rPr>
              <a:t>AGRIXORA: FARM2FUTURE (AGRIXORA: RURAL ENTERPRISE ADVISORY &amp; SUBSIDY STRUCTURING)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Problem Statement ID: </a:t>
            </a:r>
            <a:r>
              <a:rPr b="1" sz="1000">
                <a:solidFill>
                  <a:srgbClr val="10784B"/>
                </a:solidFill>
              </a:rPr>
              <a:t>26091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Problem Statement Title: </a:t>
            </a:r>
            <a:r>
              <a:rPr b="0" sz="1000">
                <a:solidFill>
                  <a:srgbClr val="1E293B"/>
                </a:solidFill>
              </a:rPr>
              <a:t>AI-Driven Hyper-Local Business Advisory and Financial Structuring Assistant for Rural Micro-Entrepreneurs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Theme: </a:t>
            </a:r>
            <a:r>
              <a:rPr b="0" sz="1000">
                <a:solidFill>
                  <a:srgbClr val="1E293B"/>
                </a:solidFill>
              </a:rPr>
              <a:t>Agriculture, FoodTech &amp; Rural Development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PS Category: </a:t>
            </a:r>
            <a:r>
              <a:rPr b="0" sz="1000">
                <a:solidFill>
                  <a:srgbClr val="1E293B"/>
                </a:solidFill>
              </a:rPr>
              <a:t>Software (AI Advisory + IoT Cold-Chain Simulation)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Team ID: </a:t>
            </a:r>
            <a:r>
              <a:rPr b="0" sz="1000">
                <a:solidFill>
                  <a:srgbClr val="1E293B"/>
                </a:solidFill>
              </a:rPr>
              <a:t>[Enter Registered Team ID]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Team Name: </a:t>
            </a:r>
            <a:r>
              <a:rPr b="1" sz="1000">
                <a:solidFill>
                  <a:srgbClr val="1E293B"/>
                </a:solidFill>
              </a:rPr>
              <a:t>Ashra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Working Prototype: </a:t>
            </a:r>
            <a:r>
              <a:rPr b="0" sz="1000">
                <a:solidFill>
                  <a:srgbClr val="10784B"/>
                </a:solidFill>
              </a:rPr>
              <a:t>https://agrixora.netlify.app (or Cloudflare Edge Live)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b="1" sz="1700">
                <a:solidFill>
                  <a:srgbClr val="0F172A"/>
                </a:solidFill>
              </a:rPr>
              <a:t>AGRIXORA: FARM2FUTURE (AGRIXORA: RURAL ENTERPRISE ADVISORY &amp; SUBSIDY STRUCTURING)</a:t>
            </a:r>
            <a:endParaRPr lang="en-US" dirty="0"/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Problem Statement ID: </a:t>
            </a:r>
            <a:r>
              <a:rPr b="1" sz="1000">
                <a:solidFill>
                  <a:srgbClr val="10784B"/>
                </a:solidFill>
              </a:rPr>
              <a:t>26091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Problem Statement Title: </a:t>
            </a:r>
            <a:r>
              <a:rPr b="0" sz="1000">
                <a:solidFill>
                  <a:srgbClr val="1E293B"/>
                </a:solidFill>
              </a:rPr>
              <a:t>AI-Driven Hyper-Local Business Advisory and Financial Structuring Assistant for Rural Micro-Entrepreneurs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Theme: </a:t>
            </a:r>
            <a:r>
              <a:rPr b="0" sz="1000">
                <a:solidFill>
                  <a:srgbClr val="1E293B"/>
                </a:solidFill>
              </a:rPr>
              <a:t>Agriculture, FoodTech &amp; Rural Development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PS Category: </a:t>
            </a:r>
            <a:r>
              <a:rPr b="0" sz="1000">
                <a:solidFill>
                  <a:srgbClr val="1E293B"/>
                </a:solidFill>
              </a:rPr>
              <a:t>Software (AI Advisory + IoT Cold-Chain Simulation)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Team ID: </a:t>
            </a:r>
            <a:r>
              <a:rPr b="0" sz="1000">
                <a:solidFill>
                  <a:srgbClr val="1E293B"/>
                </a:solidFill>
              </a:rPr>
              <a:t>[Enter Registered Team ID]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Team Name: </a:t>
            </a:r>
            <a:r>
              <a:rPr b="1" sz="1000">
                <a:solidFill>
                  <a:srgbClr val="1E293B"/>
                </a:solidFill>
              </a:rPr>
              <a:t>Ashra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Working Prototype: </a:t>
            </a:r>
            <a:r>
              <a:rPr b="0" sz="1000">
                <a:solidFill>
                  <a:srgbClr val="10784B"/>
                </a:solidFill>
              </a:rPr>
              <a:t>https://agrixora.netlify.app (or Cloudflare Edge Live)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Proposed Solution &amp; Architecture Overview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Disintermediation Engine: </a:t>
            </a:r>
            <a:r>
              <a:rPr b="0" sz="950">
                <a:solidFill>
                  <a:srgbClr val="1E293B"/>
                </a:solidFill>
                <a:latin typeface="Calibri"/>
              </a:rPr>
              <a:t>Eliminates predatory middlemen by directly linking farmers/FPOs to bulk enterprise buyers with guaranteed demand.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AI Hyper-Local Advisory: </a:t>
            </a:r>
            <a:r>
              <a:rPr b="0" sz="950">
                <a:solidFill>
                  <a:srgbClr val="1E293B"/>
                </a:solidFill>
                <a:latin typeface="Calibri"/>
              </a:rPr>
              <a:t>Assesses district-level raw material catchment to establish high-margin processing units (Dal Mill, Cold Storage, Oil Expeller).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4-Role Unified Platform: </a:t>
            </a:r>
            <a:r>
              <a:rPr b="0" sz="950">
                <a:solidFill>
                  <a:srgbClr val="1E293B"/>
                </a:solidFill>
                <a:latin typeface="Calibri"/>
              </a:rPr>
              <a:t>Role-based portals for Farmers, Bulk Institutional Buyers, Collection Hub Operators, and Administrators.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Detailed Operational Workflow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Bulk Pre-Orders &amp; Pooling: </a:t>
            </a:r>
            <a:r>
              <a:rPr b="0" sz="950">
                <a:solidFill>
                  <a:srgbClr val="1E293B"/>
                </a:solidFill>
                <a:latin typeface="Calibri"/>
              </a:rPr>
              <a:t>Buyers post pre-harvest demand; smallholder farmers aggregate volumes to fulfill 500T+ contracts.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100% Pre-Funded Escrow: </a:t>
            </a:r>
            <a:r>
              <a:rPr b="0" sz="950">
                <a:solidFill>
                  <a:srgbClr val="1E293B"/>
                </a:solidFill>
                <a:latin typeface="Calibri"/>
              </a:rPr>
              <a:t>Purchase value is locked in digital multi-sig escrow prior to harvest loading; DBT payout in &lt;2 hours.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NABL Hub QC &amp; Silo Storage: </a:t>
            </a:r>
            <a:r>
              <a:rPr b="0" sz="950">
                <a:solidFill>
                  <a:srgbClr val="1E293B"/>
                </a:solidFill>
                <a:latin typeface="Calibri"/>
              </a:rPr>
              <a:t>Intake weighbridge verification and digital quality grading (Grade A/B) before truck dispatch.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Innovation &amp; Uniqueness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Govt Subsidy Structuring: </a:t>
            </a:r>
            <a:r>
              <a:rPr b="0" sz="950">
                <a:solidFill>
                  <a:srgbClr val="1E293B"/>
                </a:solidFill>
                <a:latin typeface="Calibri"/>
              </a:rPr>
              <a:t>Automated PM-FME 35% capital subsidy, AIF 3% interest relief, and 1-click Bankable DPR Dossier generation.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Bilingual Kisan Voice AI: </a:t>
            </a:r>
            <a:r>
              <a:rPr b="0" sz="950">
                <a:solidFill>
                  <a:srgbClr val="1E293B"/>
                </a:solidFill>
                <a:latin typeface="Calibri"/>
              </a:rPr>
              <a:t>100% pure Hindi &amp; English speech assistant for real-time Mandi rates and business advisory.</a:t>
            </a: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 algn="l"/>
            <a:r>
              <a:rPr b="1" sz="1900">
                <a:solidFill>
                  <a:srgbClr val="0F172A"/>
                </a:solidFill>
                <a:latin typeface="Calibri"/>
              </a:rPr>
              <a:t>IDEA TITLE — FARM2FUTURE (Agrixora: Rural Enterprise Advisory &amp; Subsidy Structuring)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Proposed Solution &amp; Architecture Overview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Disintermediation Engine: </a:t>
            </a:r>
            <a:r>
              <a:rPr b="0" sz="950">
                <a:solidFill>
                  <a:srgbClr val="1E293B"/>
                </a:solidFill>
                <a:latin typeface="Calibri"/>
              </a:rPr>
              <a:t>Eliminates predatory middlemen by directly linking farmers/FPOs to bulk enterprise buyers with guaranteed demand.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AI Hyper-Local Advisory: </a:t>
            </a:r>
            <a:r>
              <a:rPr b="0" sz="950">
                <a:solidFill>
                  <a:srgbClr val="1E293B"/>
                </a:solidFill>
                <a:latin typeface="Calibri"/>
              </a:rPr>
              <a:t>Assesses district-level raw material catchment to establish high-margin processing units (Dal Mill, Cold Storage, Oil Expeller).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4-Role Unified Platform: </a:t>
            </a:r>
            <a:r>
              <a:rPr b="0" sz="950">
                <a:solidFill>
                  <a:srgbClr val="1E293B"/>
                </a:solidFill>
                <a:latin typeface="Calibri"/>
              </a:rPr>
              <a:t>Role-based portals for Farmers, Bulk Institutional Buyers, Collection Hub Operators, and Administrators.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Detailed Operational Workflow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Bulk Pre-Orders &amp; Pooling: </a:t>
            </a:r>
            <a:r>
              <a:rPr b="0" sz="950">
                <a:solidFill>
                  <a:srgbClr val="1E293B"/>
                </a:solidFill>
                <a:latin typeface="Calibri"/>
              </a:rPr>
              <a:t>Buyers post pre-harvest demand; smallholder farmers aggregate volumes to fulfill 500T+ contracts.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100% Pre-Funded Escrow: </a:t>
            </a:r>
            <a:r>
              <a:rPr b="0" sz="950">
                <a:solidFill>
                  <a:srgbClr val="1E293B"/>
                </a:solidFill>
                <a:latin typeface="Calibri"/>
              </a:rPr>
              <a:t>Purchase value is locked in digital multi-sig escrow prior to harvest loading; DBT payout in &lt;2 hours.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NABL Hub QC &amp; Silo Storage: </a:t>
            </a:r>
            <a:r>
              <a:rPr b="0" sz="950">
                <a:solidFill>
                  <a:srgbClr val="1E293B"/>
                </a:solidFill>
                <a:latin typeface="Calibri"/>
              </a:rPr>
              <a:t>Intake weighbridge verification and digital quality grading (Grade A/B) before truck dispatch.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Innovation &amp; Uniqueness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Govt Subsidy Structuring: </a:t>
            </a:r>
            <a:r>
              <a:rPr b="0" sz="950">
                <a:solidFill>
                  <a:srgbClr val="1E293B"/>
                </a:solidFill>
                <a:latin typeface="Calibri"/>
              </a:rPr>
              <a:t>Automated PM-FME 35% capital subsidy, AIF 3% interest relief, and 1-click Bankable DPR Dossier generation.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Bilingual Kisan Voice AI: </a:t>
            </a:r>
            <a:r>
              <a:rPr b="0" sz="950">
                <a:solidFill>
                  <a:srgbClr val="1E293B"/>
                </a:solidFill>
                <a:latin typeface="Calibri"/>
              </a:rPr>
              <a:t>100% pure Hindi &amp; English speech assistant for real-time Mandi rates and business advisory.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b="1" dirty="0">
              <a:solidFill>
                <a:schemeClr val="bg1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Proposed Solution &amp; Architecture Overview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Disintermediation Engine: </a:t>
            </a:r>
            <a:r>
              <a:rPr b="0" sz="950">
                <a:solidFill>
                  <a:srgbClr val="1E293B"/>
                </a:solidFill>
                <a:latin typeface="Calibri"/>
              </a:rPr>
              <a:t>Eliminates predatory middlemen by directly linking farmers/FPOs to bulk enterprise buyers with guaranteed demand.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AI Hyper-Local Advisory: </a:t>
            </a:r>
            <a:r>
              <a:rPr b="0" sz="950">
                <a:solidFill>
                  <a:srgbClr val="1E293B"/>
                </a:solidFill>
                <a:latin typeface="Calibri"/>
              </a:rPr>
              <a:t>Assesses district-level raw material catchment to establish high-margin processing units (Dal Mill, Cold Storage, Oil Expeller).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4-Role Unified Platform: </a:t>
            </a:r>
            <a:r>
              <a:rPr b="0" sz="950">
                <a:solidFill>
                  <a:srgbClr val="1E293B"/>
                </a:solidFill>
                <a:latin typeface="Calibri"/>
              </a:rPr>
              <a:t>Role-based portals for Farmers, Bulk Institutional Buyers, Collection Hub Operators, and Administrators.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Detailed Operational Workflow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Bulk Pre-Orders &amp; Pooling: </a:t>
            </a:r>
            <a:r>
              <a:rPr b="0" sz="950">
                <a:solidFill>
                  <a:srgbClr val="1E293B"/>
                </a:solidFill>
                <a:latin typeface="Calibri"/>
              </a:rPr>
              <a:t>Buyers post pre-harvest demand; smallholder farmers aggregate volumes to fulfill 500T+ contracts.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100% Pre-Funded Escrow: </a:t>
            </a:r>
            <a:r>
              <a:rPr b="0" sz="950">
                <a:solidFill>
                  <a:srgbClr val="1E293B"/>
                </a:solidFill>
                <a:latin typeface="Calibri"/>
              </a:rPr>
              <a:t>Purchase value is locked in digital multi-sig escrow prior to harvest loading; DBT payout in &lt;2 hours.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NABL Hub QC &amp; Silo Storage: </a:t>
            </a:r>
            <a:r>
              <a:rPr b="0" sz="950">
                <a:solidFill>
                  <a:srgbClr val="1E293B"/>
                </a:solidFill>
                <a:latin typeface="Calibri"/>
              </a:rPr>
              <a:t>Intake weighbridge verification and digital quality grading (Grade A/B) before truck dispatch.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Innovation &amp; Uniqueness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Govt Subsidy Structuring: </a:t>
            </a:r>
            <a:r>
              <a:rPr b="0" sz="950">
                <a:solidFill>
                  <a:srgbClr val="1E293B"/>
                </a:solidFill>
                <a:latin typeface="Calibri"/>
              </a:rPr>
              <a:t>Automated PM-FME 35% capital subsidy, AIF 3% interest relief, and 1-click Bankable DPR Dossier generation.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Bilingual Kisan Voice AI: </a:t>
            </a:r>
            <a:r>
              <a:rPr b="0" sz="950">
                <a:solidFill>
                  <a:srgbClr val="1E293B"/>
                </a:solidFill>
                <a:latin typeface="Calibri"/>
              </a:rPr>
              <a:t>100% pure Hindi &amp; English speech assistant for real-time Mandi rates and business advisory.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Proposed Solution &amp; Architecture Overview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Disintermediation Engine: </a:t>
            </a:r>
            <a:r>
              <a:rPr b="0" sz="950">
                <a:solidFill>
                  <a:srgbClr val="1E293B"/>
                </a:solidFill>
                <a:latin typeface="Calibri"/>
              </a:rPr>
              <a:t>Eliminates predatory middlemen by directly linking farmers/FPOs to bulk enterprise buyers with guaranteed demand.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AI Hyper-Local Advisory: </a:t>
            </a:r>
            <a:r>
              <a:rPr b="0" sz="950">
                <a:solidFill>
                  <a:srgbClr val="1E293B"/>
                </a:solidFill>
                <a:latin typeface="Calibri"/>
              </a:rPr>
              <a:t>Assesses district-level raw material catchment to establish high-margin processing units (Dal Mill, Cold Storage, Oil Expeller).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4-Role Unified Platform: </a:t>
            </a:r>
            <a:r>
              <a:rPr b="0" sz="950">
                <a:solidFill>
                  <a:srgbClr val="1E293B"/>
                </a:solidFill>
                <a:latin typeface="Calibri"/>
              </a:rPr>
              <a:t>Role-based portals for Farmers, Bulk Institutional Buyers, Collection Hub Operators, and Administrators.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Detailed Operational Workflow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Bulk Pre-Orders &amp; Pooling: </a:t>
            </a:r>
            <a:r>
              <a:rPr b="0" sz="950">
                <a:solidFill>
                  <a:srgbClr val="1E293B"/>
                </a:solidFill>
                <a:latin typeface="Calibri"/>
              </a:rPr>
              <a:t>Buyers post pre-harvest demand; smallholder farmers aggregate volumes to fulfill 500T+ contracts.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100% Pre-Funded Escrow: </a:t>
            </a:r>
            <a:r>
              <a:rPr b="0" sz="950">
                <a:solidFill>
                  <a:srgbClr val="1E293B"/>
                </a:solidFill>
                <a:latin typeface="Calibri"/>
              </a:rPr>
              <a:t>Purchase value is locked in digital multi-sig escrow prior to harvest loading; DBT payout in &lt;2 hours.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NABL Hub QC &amp; Silo Storage: </a:t>
            </a:r>
            <a:r>
              <a:rPr b="0" sz="950">
                <a:solidFill>
                  <a:srgbClr val="1E293B"/>
                </a:solidFill>
                <a:latin typeface="Calibri"/>
              </a:rPr>
              <a:t>Intake weighbridge verification and digital quality grading (Grade A/B) before truck dispatch.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Innovation &amp; Uniqueness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Govt Subsidy Structuring: </a:t>
            </a:r>
            <a:r>
              <a:rPr b="0" sz="950">
                <a:solidFill>
                  <a:srgbClr val="1E293B"/>
                </a:solidFill>
                <a:latin typeface="Calibri"/>
              </a:rPr>
              <a:t>Automated PM-FME 35% capital subsidy, AIF 3% interest relief, and 1-click Bankable DPR Dossier generation.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Bilingual Kisan Voice AI: </a:t>
            </a:r>
            <a:r>
              <a:rPr b="0" sz="950">
                <a:solidFill>
                  <a:srgbClr val="1E293B"/>
                </a:solidFill>
                <a:latin typeface="Calibri"/>
              </a:rPr>
              <a:t>100% pure Hindi &amp; English speech assistant for real-time Mandi rates and business advisory.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Proposed Solution &amp; Architecture Overview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Disintermediation Engine: </a:t>
            </a:r>
            <a:r>
              <a:rPr b="0" sz="950">
                <a:solidFill>
                  <a:srgbClr val="1E293B"/>
                </a:solidFill>
                <a:latin typeface="Calibri"/>
              </a:rPr>
              <a:t>Eliminates predatory middlemen by directly linking farmers/FPOs to bulk enterprise buyers with guaranteed demand.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AI Hyper-Local Advisory: </a:t>
            </a:r>
            <a:r>
              <a:rPr b="0" sz="950">
                <a:solidFill>
                  <a:srgbClr val="1E293B"/>
                </a:solidFill>
                <a:latin typeface="Calibri"/>
              </a:rPr>
              <a:t>Assesses district-level raw material catchment to establish high-margin processing units (Dal Mill, Cold Storage, Oil Expeller).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4-Role Unified Platform: </a:t>
            </a:r>
            <a:r>
              <a:rPr b="0" sz="950">
                <a:solidFill>
                  <a:srgbClr val="1E293B"/>
                </a:solidFill>
                <a:latin typeface="Calibri"/>
              </a:rPr>
              <a:t>Role-based portals for Farmers, Bulk Institutional Buyers, Collection Hub Operators, and Administrators.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Detailed Operational Workflow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Bulk Pre-Orders &amp; Pooling: </a:t>
            </a:r>
            <a:r>
              <a:rPr b="0" sz="950">
                <a:solidFill>
                  <a:srgbClr val="1E293B"/>
                </a:solidFill>
                <a:latin typeface="Calibri"/>
              </a:rPr>
              <a:t>Buyers post pre-harvest demand; smallholder farmers aggregate volumes to fulfill 500T+ contracts.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100% Pre-Funded Escrow: </a:t>
            </a:r>
            <a:r>
              <a:rPr b="0" sz="950">
                <a:solidFill>
                  <a:srgbClr val="1E293B"/>
                </a:solidFill>
                <a:latin typeface="Calibri"/>
              </a:rPr>
              <a:t>Purchase value is locked in digital multi-sig escrow prior to harvest loading; DBT payout in &lt;2 hours.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NABL Hub QC &amp; Silo Storage: </a:t>
            </a:r>
            <a:r>
              <a:rPr b="0" sz="950">
                <a:solidFill>
                  <a:srgbClr val="1E293B"/>
                </a:solidFill>
                <a:latin typeface="Calibri"/>
              </a:rPr>
              <a:t>Intake weighbridge verification and digital quality grading (Grade A/B) before truck dispatch.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Innovation &amp; Uniqueness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Govt Subsidy Structuring: </a:t>
            </a:r>
            <a:r>
              <a:rPr b="0" sz="950">
                <a:solidFill>
                  <a:srgbClr val="1E293B"/>
                </a:solidFill>
                <a:latin typeface="Calibri"/>
              </a:rPr>
              <a:t>Automated PM-FME 35% capital subsidy, AIF 3% interest relief, and 1-click Bankable DPR Dossier generation.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Bilingual Kisan Voice AI: </a:t>
            </a:r>
            <a:r>
              <a:rPr b="0" sz="950">
                <a:solidFill>
                  <a:srgbClr val="1E293B"/>
                </a:solidFill>
                <a:latin typeface="Calibri"/>
              </a:rPr>
              <a:t>100% pure Hindi &amp; English speech assistant for real-time Mandi rates and business advisory.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Technologies &amp; Stack Implemented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Frontend &amp; Client: </a:t>
            </a:r>
            <a:r>
              <a:rPr b="0" sz="950">
                <a:solidFill>
                  <a:srgbClr val="1E293B"/>
                </a:solidFill>
                <a:latin typeface="Calibri"/>
              </a:rPr>
              <a:t>React 18, TypeScript, Tailwind CSS, Vite, Lucide Icons, Recharts (responsive PWA).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Database &amp; Cloud: </a:t>
            </a:r>
            <a:r>
              <a:rPr b="0" sz="950">
                <a:solidFill>
                  <a:srgbClr val="1E293B"/>
                </a:solidFill>
                <a:latin typeface="Calibri"/>
              </a:rPr>
              <a:t>Turso Cloud Distributed LibSQL (edge-replicated &lt;15ms response) + offline-first LocalStorage sync.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AI &amp; Algorithmic Engines: </a:t>
            </a:r>
            <a:r>
              <a:rPr b="0" sz="950">
                <a:solidFill>
                  <a:srgbClr val="1E293B"/>
                </a:solidFill>
                <a:latin typeface="Calibri"/>
              </a:rPr>
              <a:t>Haversine Hyperlocal Radar (0-150 km), AI APMC Price Intelligence, and Cold-Chain Truck Allocation.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Security &amp; Compliance: </a:t>
            </a:r>
            <a:r>
              <a:rPr b="0" sz="950">
                <a:solidFill>
                  <a:srgbClr val="1E293B"/>
                </a:solidFill>
                <a:latin typeface="Calibri"/>
              </a:rPr>
              <a:t>Aadhaar e-KYC, Multi-Signature Escrow Vault, VAHAN Driver Compliance Registry.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End-to-End Implementation Flow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1 [Demand / Advisory]: </a:t>
            </a:r>
            <a:r>
              <a:rPr b="0" sz="950">
                <a:solidFill>
                  <a:srgbClr val="1E293B"/>
                </a:solidFill>
                <a:latin typeface="Calibri"/>
              </a:rPr>
              <a:t>Buyer creates bulk pre-order OR Farmer evaluates local processing venture via AI Advisor.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2 [Pooling &amp; Subsidy]: </a:t>
            </a:r>
            <a:r>
              <a:rPr b="0" sz="950">
                <a:solidFill>
                  <a:srgbClr val="1E293B"/>
                </a:solidFill>
                <a:latin typeface="Calibri"/>
              </a:rPr>
              <a:t>Farmers pool harvest volume; Scheme engine structures 35% PM-FME subsidy &amp; Bank DPR.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3 [QC &amp; Cold Transit]: </a:t>
            </a:r>
            <a:r>
              <a:rPr b="0" sz="950">
                <a:solidFill>
                  <a:srgbClr val="1E293B"/>
                </a:solidFill>
                <a:latin typeface="Calibri"/>
              </a:rPr>
              <a:t>Intake at Collection Hub with digital grading; AI reefer dispatch with 2°C-14°C live GPS telemetry.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4 [Delivery &amp; Payout]: </a:t>
            </a:r>
            <a:r>
              <a:rPr b="0" sz="950">
                <a:solidFill>
                  <a:srgbClr val="1E293B"/>
                </a:solidFill>
                <a:latin typeface="Calibri"/>
              </a:rPr>
              <a:t>Geofenced delivery verification triggers instant automated escrow DBT settlement.</a:t>
            </a: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b="1" sz="1900">
                <a:solidFill>
                  <a:srgbClr val="0F172A"/>
                </a:solidFill>
                <a:latin typeface="Calibri"/>
              </a:rPr>
              <a:t>TECHNICAL APPROACH &amp; SYSTEM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Technologies &amp; Stack Implemented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Frontend &amp; Client: </a:t>
            </a:r>
            <a:r>
              <a:rPr b="0" sz="950">
                <a:solidFill>
                  <a:srgbClr val="1E293B"/>
                </a:solidFill>
                <a:latin typeface="Calibri"/>
              </a:rPr>
              <a:t>React 18, TypeScript, Tailwind CSS, Vite, Lucide Icons, Recharts (responsive PWA).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Database &amp; Cloud: </a:t>
            </a:r>
            <a:r>
              <a:rPr b="0" sz="950">
                <a:solidFill>
                  <a:srgbClr val="1E293B"/>
                </a:solidFill>
                <a:latin typeface="Calibri"/>
              </a:rPr>
              <a:t>Turso Cloud Distributed LibSQL (edge-replicated &lt;15ms response) + offline-first LocalStorage sync.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AI &amp; Algorithmic Engines: </a:t>
            </a:r>
            <a:r>
              <a:rPr b="0" sz="950">
                <a:solidFill>
                  <a:srgbClr val="1E293B"/>
                </a:solidFill>
                <a:latin typeface="Calibri"/>
              </a:rPr>
              <a:t>Haversine Hyperlocal Radar (0-150 km), AI APMC Price Intelligence, and Cold-Chain Truck Allocation.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Security &amp; Compliance: </a:t>
            </a:r>
            <a:r>
              <a:rPr b="0" sz="950">
                <a:solidFill>
                  <a:srgbClr val="1E293B"/>
                </a:solidFill>
                <a:latin typeface="Calibri"/>
              </a:rPr>
              <a:t>Aadhaar e-KYC, Multi-Signature Escrow Vault, VAHAN Driver Compliance Registry.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End-to-End Implementation Flow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1 [Demand / Advisory]: </a:t>
            </a:r>
            <a:r>
              <a:rPr b="0" sz="950">
                <a:solidFill>
                  <a:srgbClr val="1E293B"/>
                </a:solidFill>
                <a:latin typeface="Calibri"/>
              </a:rPr>
              <a:t>Buyer creates bulk pre-order OR Farmer evaluates local processing venture via AI Advisor.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2 [Pooling &amp; Subsidy]: </a:t>
            </a:r>
            <a:r>
              <a:rPr b="0" sz="950">
                <a:solidFill>
                  <a:srgbClr val="1E293B"/>
                </a:solidFill>
                <a:latin typeface="Calibri"/>
              </a:rPr>
              <a:t>Farmers pool harvest volume; Scheme engine structures 35% PM-FME subsidy &amp; Bank DPR.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3 [QC &amp; Cold Transit]: </a:t>
            </a:r>
            <a:r>
              <a:rPr b="0" sz="950">
                <a:solidFill>
                  <a:srgbClr val="1E293B"/>
                </a:solidFill>
                <a:latin typeface="Calibri"/>
              </a:rPr>
              <a:t>Intake at Collection Hub with digital grading; AI reefer dispatch with 2°C-14°C live GPS telemetry.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4 [Delivery &amp; Payout]: </a:t>
            </a:r>
            <a:r>
              <a:rPr b="0" sz="950">
                <a:solidFill>
                  <a:srgbClr val="1E293B"/>
                </a:solidFill>
                <a:latin typeface="Calibri"/>
              </a:rPr>
              <a:t>Geofenced delivery verification triggers instant automated escrow DBT settlement.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b="1" dirty="0">
              <a:solidFill>
                <a:schemeClr val="bg1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Technologies &amp; Stack Implemented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Frontend &amp; Client: </a:t>
            </a:r>
            <a:r>
              <a:rPr b="0" sz="950">
                <a:solidFill>
                  <a:srgbClr val="1E293B"/>
                </a:solidFill>
                <a:latin typeface="Calibri"/>
              </a:rPr>
              <a:t>React 18, TypeScript, Tailwind CSS, Vite, Lucide Icons, Recharts (responsive PWA).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Database &amp; Cloud: </a:t>
            </a:r>
            <a:r>
              <a:rPr b="0" sz="950">
                <a:solidFill>
                  <a:srgbClr val="1E293B"/>
                </a:solidFill>
                <a:latin typeface="Calibri"/>
              </a:rPr>
              <a:t>Turso Cloud Distributed LibSQL (edge-replicated &lt;15ms response) + offline-first LocalStorage sync.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AI &amp; Algorithmic Engines: </a:t>
            </a:r>
            <a:r>
              <a:rPr b="0" sz="950">
                <a:solidFill>
                  <a:srgbClr val="1E293B"/>
                </a:solidFill>
                <a:latin typeface="Calibri"/>
              </a:rPr>
              <a:t>Haversine Hyperlocal Radar (0-150 km), AI APMC Price Intelligence, and Cold-Chain Truck Allocation.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Security &amp; Compliance: </a:t>
            </a:r>
            <a:r>
              <a:rPr b="0" sz="950">
                <a:solidFill>
                  <a:srgbClr val="1E293B"/>
                </a:solidFill>
                <a:latin typeface="Calibri"/>
              </a:rPr>
              <a:t>Aadhaar e-KYC, Multi-Signature Escrow Vault, VAHAN Driver Compliance Registry.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End-to-End Implementation Flow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1 [Demand / Advisory]: </a:t>
            </a:r>
            <a:r>
              <a:rPr b="0" sz="950">
                <a:solidFill>
                  <a:srgbClr val="1E293B"/>
                </a:solidFill>
                <a:latin typeface="Calibri"/>
              </a:rPr>
              <a:t>Buyer creates bulk pre-order OR Farmer evaluates local processing venture via AI Advisor.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2 [Pooling &amp; Subsidy]: </a:t>
            </a:r>
            <a:r>
              <a:rPr b="0" sz="950">
                <a:solidFill>
                  <a:srgbClr val="1E293B"/>
                </a:solidFill>
                <a:latin typeface="Calibri"/>
              </a:rPr>
              <a:t>Farmers pool harvest volume; Scheme engine structures 35% PM-FME subsidy &amp; Bank DPR.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3 [QC &amp; Cold Transit]: </a:t>
            </a:r>
            <a:r>
              <a:rPr b="0" sz="950">
                <a:solidFill>
                  <a:srgbClr val="1E293B"/>
                </a:solidFill>
                <a:latin typeface="Calibri"/>
              </a:rPr>
              <a:t>Intake at Collection Hub with digital grading; AI reefer dispatch with 2°C-14°C live GPS telemetry.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4 [Delivery &amp; Payout]: </a:t>
            </a:r>
            <a:r>
              <a:rPr b="0" sz="950">
                <a:solidFill>
                  <a:srgbClr val="1E293B"/>
                </a:solidFill>
                <a:latin typeface="Calibri"/>
              </a:rPr>
              <a:t>Geofenced delivery verification triggers instant automated escrow DBT settlement.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Technologies &amp; Stack Implemented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Frontend &amp; Client: </a:t>
            </a:r>
            <a:r>
              <a:rPr b="0" sz="950">
                <a:solidFill>
                  <a:srgbClr val="1E293B"/>
                </a:solidFill>
                <a:latin typeface="Calibri"/>
              </a:rPr>
              <a:t>React 18, TypeScript, Tailwind CSS, Vite, Lucide Icons, Recharts (responsive PWA).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Database &amp; Cloud: </a:t>
            </a:r>
            <a:r>
              <a:rPr b="0" sz="950">
                <a:solidFill>
                  <a:srgbClr val="1E293B"/>
                </a:solidFill>
                <a:latin typeface="Calibri"/>
              </a:rPr>
              <a:t>Turso Cloud Distributed LibSQL (edge-replicated &lt;15ms response) + offline-first LocalStorage sync.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AI &amp; Algorithmic Engines: </a:t>
            </a:r>
            <a:r>
              <a:rPr b="0" sz="950">
                <a:solidFill>
                  <a:srgbClr val="1E293B"/>
                </a:solidFill>
                <a:latin typeface="Calibri"/>
              </a:rPr>
              <a:t>Haversine Hyperlocal Radar (0-150 km), AI APMC Price Intelligence, and Cold-Chain Truck Allocation.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Security &amp; Compliance: </a:t>
            </a:r>
            <a:r>
              <a:rPr b="0" sz="950">
                <a:solidFill>
                  <a:srgbClr val="1E293B"/>
                </a:solidFill>
                <a:latin typeface="Calibri"/>
              </a:rPr>
              <a:t>Aadhaar e-KYC, Multi-Signature Escrow Vault, VAHAN Driver Compliance Registry.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End-to-End Implementation Flow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1 [Demand / Advisory]: </a:t>
            </a:r>
            <a:r>
              <a:rPr b="0" sz="950">
                <a:solidFill>
                  <a:srgbClr val="1E293B"/>
                </a:solidFill>
                <a:latin typeface="Calibri"/>
              </a:rPr>
              <a:t>Buyer creates bulk pre-order OR Farmer evaluates local processing venture via AI Advisor.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2 [Pooling &amp; Subsidy]: </a:t>
            </a:r>
            <a:r>
              <a:rPr b="0" sz="950">
                <a:solidFill>
                  <a:srgbClr val="1E293B"/>
                </a:solidFill>
                <a:latin typeface="Calibri"/>
              </a:rPr>
              <a:t>Farmers pool harvest volume; Scheme engine structures 35% PM-FME subsidy &amp; Bank DPR.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3 [QC &amp; Cold Transit]: </a:t>
            </a:r>
            <a:r>
              <a:rPr b="0" sz="950">
                <a:solidFill>
                  <a:srgbClr val="1E293B"/>
                </a:solidFill>
                <a:latin typeface="Calibri"/>
              </a:rPr>
              <a:t>Intake at Collection Hub with digital grading; AI reefer dispatch with 2°C-14°C live GPS telemetry.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4 [Delivery &amp; Payout]: </a:t>
            </a:r>
            <a:r>
              <a:rPr b="0" sz="950">
                <a:solidFill>
                  <a:srgbClr val="1E293B"/>
                </a:solidFill>
                <a:latin typeface="Calibri"/>
              </a:rPr>
              <a:t>Geofenced delivery verification triggers instant automated escrow DBT settlement.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Technologies &amp; Stack Implemented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Frontend &amp; Client: </a:t>
            </a:r>
            <a:r>
              <a:rPr b="0" sz="950">
                <a:solidFill>
                  <a:srgbClr val="1E293B"/>
                </a:solidFill>
                <a:latin typeface="Calibri"/>
              </a:rPr>
              <a:t>React 18, TypeScript, Tailwind CSS, Vite, Lucide Icons, Recharts (responsive PWA).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Database &amp; Cloud: </a:t>
            </a:r>
            <a:r>
              <a:rPr b="0" sz="950">
                <a:solidFill>
                  <a:srgbClr val="1E293B"/>
                </a:solidFill>
                <a:latin typeface="Calibri"/>
              </a:rPr>
              <a:t>Turso Cloud Distributed LibSQL (edge-replicated &lt;15ms response) + offline-first LocalStorage sync.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AI &amp; Algorithmic Engines: </a:t>
            </a:r>
            <a:r>
              <a:rPr b="0" sz="950">
                <a:solidFill>
                  <a:srgbClr val="1E293B"/>
                </a:solidFill>
                <a:latin typeface="Calibri"/>
              </a:rPr>
              <a:t>Haversine Hyperlocal Radar (0-150 km), AI APMC Price Intelligence, and Cold-Chain Truck Allocation.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Security &amp; Compliance: </a:t>
            </a:r>
            <a:r>
              <a:rPr b="0" sz="950">
                <a:solidFill>
                  <a:srgbClr val="1E293B"/>
                </a:solidFill>
                <a:latin typeface="Calibri"/>
              </a:rPr>
              <a:t>Aadhaar e-KYC, Multi-Signature Escrow Vault, VAHAN Driver Compliance Registry.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End-to-End Implementation Flow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1 [Demand / Advisory]: </a:t>
            </a:r>
            <a:r>
              <a:rPr b="0" sz="950">
                <a:solidFill>
                  <a:srgbClr val="1E293B"/>
                </a:solidFill>
                <a:latin typeface="Calibri"/>
              </a:rPr>
              <a:t>Buyer creates bulk pre-order OR Farmer evaluates local processing venture via AI Advisor.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2 [Pooling &amp; Subsidy]: </a:t>
            </a:r>
            <a:r>
              <a:rPr b="0" sz="950">
                <a:solidFill>
                  <a:srgbClr val="1E293B"/>
                </a:solidFill>
                <a:latin typeface="Calibri"/>
              </a:rPr>
              <a:t>Farmers pool harvest volume; Scheme engine structures 35% PM-FME subsidy &amp; Bank DPR.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3 [QC &amp; Cold Transit]: </a:t>
            </a:r>
            <a:r>
              <a:rPr b="0" sz="950">
                <a:solidFill>
                  <a:srgbClr val="1E293B"/>
                </a:solidFill>
                <a:latin typeface="Calibri"/>
              </a:rPr>
              <a:t>Intake at Collection Hub with digital grading; AI reefer dispatch with 2°C-14°C live GPS telemetry.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4 [Delivery &amp; Payout]: </a:t>
            </a:r>
            <a:r>
              <a:rPr b="0" sz="950">
                <a:solidFill>
                  <a:srgbClr val="1E293B"/>
                </a:solidFill>
                <a:latin typeface="Calibri"/>
              </a:rPr>
              <a:t>Geofenced delivery verification triggers instant automated escrow DBT settlement.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Feasibility Assessment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Technical Feasibility: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Fully working prototype with role-based workflows, Turso Cloud DB, and simulated cold telemetry already live.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Operational Feasibility: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Leverages existing physical APMC collection hubs, FCI silos, and state transporter networks (Zero Capex).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Financial Viability: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Zero fees for farmers; nominal 1.5% platform transaction fee on corporate bulk buyers sustains operations.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Phased Rollout Plan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1 [Pilot]: </a:t>
            </a:r>
            <a:r>
              <a:rPr b="0" sz="950">
                <a:solidFill>
                  <a:srgbClr val="1E293B"/>
                </a:solidFill>
                <a:latin typeface="Calibri"/>
              </a:rPr>
              <a:t>1 District / FPO cluster + local collection centre; validate pre-orders, fill rates, and DPR bank acceptance.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2 [Operations]: </a:t>
            </a:r>
            <a:r>
              <a:rPr b="0" sz="950">
                <a:solidFill>
                  <a:srgbClr val="1E293B"/>
                </a:solidFill>
                <a:latin typeface="Calibri"/>
              </a:rPr>
              <a:t>Scale bulk demand pooling, shared transport routes, and standardized digital QC certifications.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3 [Scale &amp; Maturity]: </a:t>
            </a:r>
            <a:r>
              <a:rPr b="0" sz="950">
                <a:solidFill>
                  <a:srgbClr val="1E293B"/>
                </a:solidFill>
                <a:latin typeface="Calibri"/>
              </a:rPr>
              <a:t>Multi-district expansion, corporate buyer integrations, and full state-level logistics scaling.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Risk Mitigation Strategies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Low Digital Literacy: </a:t>
            </a:r>
            <a:r>
              <a:rPr b="0" sz="950">
                <a:solidFill>
                  <a:srgbClr val="1E293B"/>
                </a:solidFill>
                <a:latin typeface="Calibri"/>
              </a:rPr>
              <a:t>Bilingual UI + Kisan Voice AI + on-ground FPO village coordinator onboarding support.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Payment Uncertainty: </a:t>
            </a:r>
            <a:r>
              <a:rPr b="0" sz="950">
                <a:solidFill>
                  <a:srgbClr val="1E293B"/>
                </a:solidFill>
                <a:latin typeface="Calibri"/>
              </a:rPr>
              <a:t>100% upfront escrow deposit eliminates default risks; pre-dispatch NABL testing stops quality disputes.</a:t>
            </a: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b="1" sz="1900">
                <a:solidFill>
                  <a:srgbClr val="0F172A"/>
                </a:solidFill>
                <a:latin typeface="Calibri"/>
              </a:rPr>
              <a:t>FEASIBILITY AND VIABILITY ANALYSIS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Feasibility Assessment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Technical Feasibility: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Fully working prototype with role-based workflows, Turso Cloud DB, and simulated cold telemetry already live.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Operational Feasibility: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Leverages existing physical APMC collection hubs, FCI silos, and state transporter networks (Zero Capex).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Financial Viability: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Zero fees for farmers; nominal 1.5% platform transaction fee on corporate bulk buyers sustains operations.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Phased Rollout Plan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1 [Pilot]: </a:t>
            </a:r>
            <a:r>
              <a:rPr b="0" sz="950">
                <a:solidFill>
                  <a:srgbClr val="1E293B"/>
                </a:solidFill>
                <a:latin typeface="Calibri"/>
              </a:rPr>
              <a:t>1 District / FPO cluster + local collection centre; validate pre-orders, fill rates, and DPR bank acceptance.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2 [Operations]: </a:t>
            </a:r>
            <a:r>
              <a:rPr b="0" sz="950">
                <a:solidFill>
                  <a:srgbClr val="1E293B"/>
                </a:solidFill>
                <a:latin typeface="Calibri"/>
              </a:rPr>
              <a:t>Scale bulk demand pooling, shared transport routes, and standardized digital QC certifications.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3 [Scale &amp; Maturity]: </a:t>
            </a:r>
            <a:r>
              <a:rPr b="0" sz="950">
                <a:solidFill>
                  <a:srgbClr val="1E293B"/>
                </a:solidFill>
                <a:latin typeface="Calibri"/>
              </a:rPr>
              <a:t>Multi-district expansion, corporate buyer integrations, and full state-level logistics scaling.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Risk Mitigation Strategies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Low Digital Literacy: </a:t>
            </a:r>
            <a:r>
              <a:rPr b="0" sz="950">
                <a:solidFill>
                  <a:srgbClr val="1E293B"/>
                </a:solidFill>
                <a:latin typeface="Calibri"/>
              </a:rPr>
              <a:t>Bilingual UI + Kisan Voice AI + on-ground FPO village coordinator onboarding support.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Payment Uncertainty: </a:t>
            </a:r>
            <a:r>
              <a:rPr b="0" sz="950">
                <a:solidFill>
                  <a:srgbClr val="1E293B"/>
                </a:solidFill>
                <a:latin typeface="Calibri"/>
              </a:rPr>
              <a:t>100% upfront escrow deposit eliminates default risks; pre-dispatch NABL testing stops quality disputes.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Feasibility Assessment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Technical Feasibility: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Fully working prototype with role-based workflows, Turso Cloud DB, and simulated cold telemetry already live.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Operational Feasibility: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Leverages existing physical APMC collection hubs, FCI silos, and state transporter networks (Zero Capex).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Financial Viability: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Zero fees for farmers; nominal 1.5% platform transaction fee on corporate bulk buyers sustains operations.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Phased Rollout Plan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1 [Pilot]: </a:t>
            </a:r>
            <a:r>
              <a:rPr b="0" sz="950">
                <a:solidFill>
                  <a:srgbClr val="1E293B"/>
                </a:solidFill>
                <a:latin typeface="Calibri"/>
              </a:rPr>
              <a:t>1 District / FPO cluster + local collection centre; validate pre-orders, fill rates, and DPR bank acceptance.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2 [Operations]: </a:t>
            </a:r>
            <a:r>
              <a:rPr b="0" sz="950">
                <a:solidFill>
                  <a:srgbClr val="1E293B"/>
                </a:solidFill>
                <a:latin typeface="Calibri"/>
              </a:rPr>
              <a:t>Scale bulk demand pooling, shared transport routes, and standardized digital QC certifications.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3 [Scale &amp; Maturity]: </a:t>
            </a:r>
            <a:r>
              <a:rPr b="0" sz="950">
                <a:solidFill>
                  <a:srgbClr val="1E293B"/>
                </a:solidFill>
                <a:latin typeface="Calibri"/>
              </a:rPr>
              <a:t>Multi-district expansion, corporate buyer integrations, and full state-level logistics scaling.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Risk Mitigation Strategies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Low Digital Literacy: </a:t>
            </a:r>
            <a:r>
              <a:rPr b="0" sz="950">
                <a:solidFill>
                  <a:srgbClr val="1E293B"/>
                </a:solidFill>
                <a:latin typeface="Calibri"/>
              </a:rPr>
              <a:t>Bilingual UI + Kisan Voice AI + on-ground FPO village coordinator onboarding support.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Payment Uncertainty: </a:t>
            </a:r>
            <a:r>
              <a:rPr b="0" sz="950">
                <a:solidFill>
                  <a:srgbClr val="1E293B"/>
                </a:solidFill>
                <a:latin typeface="Calibri"/>
              </a:rPr>
              <a:t>100% upfront escrow deposit eliminates default risks; pre-dispatch NABL testing stops quality disputes.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Feasibility Assessment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Technical Feasibility: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Fully working prototype with role-based workflows, Turso Cloud DB, and simulated cold telemetry already live.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Operational Feasibility: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Leverages existing physical APMC collection hubs, FCI silos, and state transporter networks (Zero Capex).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Financial Viability: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Zero fees for farmers; nominal 1.5% platform transaction fee on corporate bulk buyers sustains operations.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Phased Rollout Plan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1 [Pilot]: </a:t>
            </a:r>
            <a:r>
              <a:rPr b="0" sz="950">
                <a:solidFill>
                  <a:srgbClr val="1E293B"/>
                </a:solidFill>
                <a:latin typeface="Calibri"/>
              </a:rPr>
              <a:t>1 District / FPO cluster + local collection centre; validate pre-orders, fill rates, and DPR bank acceptance.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2 [Operations]: </a:t>
            </a:r>
            <a:r>
              <a:rPr b="0" sz="950">
                <a:solidFill>
                  <a:srgbClr val="1E293B"/>
                </a:solidFill>
                <a:latin typeface="Calibri"/>
              </a:rPr>
              <a:t>Scale bulk demand pooling, shared transport routes, and standardized digital QC certifications.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3 [Scale &amp; Maturity]: </a:t>
            </a:r>
            <a:r>
              <a:rPr b="0" sz="950">
                <a:solidFill>
                  <a:srgbClr val="1E293B"/>
                </a:solidFill>
                <a:latin typeface="Calibri"/>
              </a:rPr>
              <a:t>Multi-district expansion, corporate buyer integrations, and full state-level logistics scaling.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Risk Mitigation Strategies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Low Digital Literacy: </a:t>
            </a:r>
            <a:r>
              <a:rPr b="0" sz="950">
                <a:solidFill>
                  <a:srgbClr val="1E293B"/>
                </a:solidFill>
                <a:latin typeface="Calibri"/>
              </a:rPr>
              <a:t>Bilingual UI + Kisan Voice AI + on-ground FPO village coordinator onboarding support.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Payment Uncertainty: </a:t>
            </a:r>
            <a:r>
              <a:rPr b="0" sz="950">
                <a:solidFill>
                  <a:srgbClr val="1E293B"/>
                </a:solidFill>
                <a:latin typeface="Calibri"/>
              </a:rPr>
              <a:t>100% upfront escrow deposit eliminates default risks; pre-dispatch NABL testing stops quality disputes.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Feasibility Assessment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Technical Feasibility: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Fully working prototype with role-based workflows, Turso Cloud DB, and simulated cold telemetry already live.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Operational Feasibility: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Leverages existing physical APMC collection hubs, FCI silos, and state transporter networks (Zero Capex).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Financial Viability: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Zero fees for farmers; nominal 1.5% platform transaction fee on corporate bulk buyers sustains operations.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Phased Rollout Plan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1 [Pilot]: </a:t>
            </a:r>
            <a:r>
              <a:rPr b="0" sz="950">
                <a:solidFill>
                  <a:srgbClr val="1E293B"/>
                </a:solidFill>
                <a:latin typeface="Calibri"/>
              </a:rPr>
              <a:t>1 District / FPO cluster + local collection centre; validate pre-orders, fill rates, and DPR bank acceptance.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2 [Operations]: </a:t>
            </a:r>
            <a:r>
              <a:rPr b="0" sz="950">
                <a:solidFill>
                  <a:srgbClr val="1E293B"/>
                </a:solidFill>
                <a:latin typeface="Calibri"/>
              </a:rPr>
              <a:t>Scale bulk demand pooling, shared transport routes, and standardized digital QC certifications.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3 [Scale &amp; Maturity]: </a:t>
            </a:r>
            <a:r>
              <a:rPr b="0" sz="950">
                <a:solidFill>
                  <a:srgbClr val="1E293B"/>
                </a:solidFill>
                <a:latin typeface="Calibri"/>
              </a:rPr>
              <a:t>Multi-district expansion, corporate buyer integrations, and full state-level logistics scaling.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Risk Mitigation Strategies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Low Digital Literacy: </a:t>
            </a:r>
            <a:r>
              <a:rPr b="0" sz="950">
                <a:solidFill>
                  <a:srgbClr val="1E293B"/>
                </a:solidFill>
                <a:latin typeface="Calibri"/>
              </a:rPr>
              <a:t>Bilingual UI + Kisan Voice AI + on-ground FPO village coordinator onboarding support.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Payment Uncertainty: </a:t>
            </a:r>
            <a:r>
              <a:rPr b="0" sz="950">
                <a:solidFill>
                  <a:srgbClr val="1E293B"/>
                </a:solidFill>
                <a:latin typeface="Calibri"/>
              </a:rPr>
              <a:t>100% upfront escrow deposit eliminates default risks; pre-dispatch NABL testing stops quality disputes.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Stakeholder Impact Matrix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Farmers &amp; FPOs: </a:t>
            </a:r>
            <a:r>
              <a:rPr b="0" sz="950">
                <a:solidFill>
                  <a:srgbClr val="1E293B"/>
                </a:solidFill>
                <a:latin typeface="Calibri"/>
              </a:rPr>
              <a:t>+20% to +35% higher net realization by bypassing middleman commissions; guaranteed pre-harvest demand.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Rural Micro-Entrepreneurs: </a:t>
            </a:r>
            <a:r>
              <a:rPr b="0" sz="950">
                <a:solidFill>
                  <a:srgbClr val="1E293B"/>
                </a:solidFill>
                <a:latin typeface="Calibri"/>
              </a:rPr>
              <a:t>Accessible PM-FME 35% subsidies and bankable DPRs enable profitable processing units (Dal/Oil/Cold Storage).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Bulk Institutional Buyers: </a:t>
            </a:r>
            <a:r>
              <a:rPr b="0" sz="950">
                <a:solidFill>
                  <a:srgbClr val="1E293B"/>
                </a:solidFill>
                <a:latin typeface="Calibri"/>
              </a:rPr>
              <a:t>Reliable, quality-graded supply at scale with transparent pricing and real-time shipment visibility.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Consumers &amp; Society: </a:t>
            </a:r>
            <a:r>
              <a:rPr b="0" sz="950">
                <a:solidFill>
                  <a:srgbClr val="1E293B"/>
                </a:solidFill>
                <a:latin typeface="Calibri"/>
              </a:rPr>
              <a:t>10% to 18% lower retail food prices; 60% reduction in post-harvest perishable wastage.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Triple-Bottom-Line Benefits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Economic: </a:t>
            </a:r>
            <a:r>
              <a:rPr b="0" sz="950">
                <a:solidFill>
                  <a:srgbClr val="1E293B"/>
                </a:solidFill>
                <a:latin typeface="Calibri"/>
              </a:rPr>
              <a:t>Higher farmgate income, zero payment defaults, creation of local rural agro-processing jobs.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Social: </a:t>
            </a:r>
            <a:r>
              <a:rPr b="0" sz="950">
                <a:solidFill>
                  <a:srgbClr val="1E293B"/>
                </a:solidFill>
                <a:latin typeface="Calibri"/>
              </a:rPr>
              <a:t>Inclusion of smallholder &amp; women farmers; trust built through transparent digital QC and instant DBT payouts.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Environmental: </a:t>
            </a:r>
            <a:r>
              <a:rPr b="0" sz="950">
                <a:solidFill>
                  <a:srgbClr val="1E293B"/>
                </a:solidFill>
                <a:latin typeface="Calibri"/>
              </a:rPr>
              <a:t>Cold-chain integration prevents perishable rotting; optimized transport routes reduce carbon footprint.</a:t>
            </a: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b="1" sz="1900">
                <a:solidFill>
                  <a:srgbClr val="0F172A"/>
                </a:solidFill>
                <a:latin typeface="Calibri"/>
              </a:rPr>
              <a:t>IMPACT AND QUANTIFIABLE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Stakeholder Impact Matrix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Farmers &amp; FPOs: </a:t>
            </a:r>
            <a:r>
              <a:rPr b="0" sz="950">
                <a:solidFill>
                  <a:srgbClr val="1E293B"/>
                </a:solidFill>
                <a:latin typeface="Calibri"/>
              </a:rPr>
              <a:t>+20% to +35% higher net realization by bypassing middleman commissions; guaranteed pre-harvest demand.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Rural Micro-Entrepreneurs: </a:t>
            </a:r>
            <a:r>
              <a:rPr b="0" sz="950">
                <a:solidFill>
                  <a:srgbClr val="1E293B"/>
                </a:solidFill>
                <a:latin typeface="Calibri"/>
              </a:rPr>
              <a:t>Accessible PM-FME 35% subsidies and bankable DPRs enable profitable processing units (Dal/Oil/Cold Storage).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Bulk Institutional Buyers: </a:t>
            </a:r>
            <a:r>
              <a:rPr b="0" sz="950">
                <a:solidFill>
                  <a:srgbClr val="1E293B"/>
                </a:solidFill>
                <a:latin typeface="Calibri"/>
              </a:rPr>
              <a:t>Reliable, quality-graded supply at scale with transparent pricing and real-time shipment visibility.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Consumers &amp; Society: </a:t>
            </a:r>
            <a:r>
              <a:rPr b="0" sz="950">
                <a:solidFill>
                  <a:srgbClr val="1E293B"/>
                </a:solidFill>
                <a:latin typeface="Calibri"/>
              </a:rPr>
              <a:t>10% to 18% lower retail food prices; 60% reduction in post-harvest perishable wastage.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Triple-Bottom-Line Benefits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Economic: </a:t>
            </a:r>
            <a:r>
              <a:rPr b="0" sz="950">
                <a:solidFill>
                  <a:srgbClr val="1E293B"/>
                </a:solidFill>
                <a:latin typeface="Calibri"/>
              </a:rPr>
              <a:t>Higher farmgate income, zero payment defaults, creation of local rural agro-processing jobs.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Social: </a:t>
            </a:r>
            <a:r>
              <a:rPr b="0" sz="950">
                <a:solidFill>
                  <a:srgbClr val="1E293B"/>
                </a:solidFill>
                <a:latin typeface="Calibri"/>
              </a:rPr>
              <a:t>Inclusion of smallholder &amp; women farmers; trust built through transparent digital QC and instant DBT payouts.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Environmental: </a:t>
            </a:r>
            <a:r>
              <a:rPr b="0" sz="950">
                <a:solidFill>
                  <a:srgbClr val="1E293B"/>
                </a:solidFill>
                <a:latin typeface="Calibri"/>
              </a:rPr>
              <a:t>Cold-chain integration prevents perishable rotting; optimized transport routes reduce carbon footprint.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Stakeholder Impact Matrix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Farmers &amp; FPOs: </a:t>
            </a:r>
            <a:r>
              <a:rPr b="0" sz="950">
                <a:solidFill>
                  <a:srgbClr val="1E293B"/>
                </a:solidFill>
                <a:latin typeface="Calibri"/>
              </a:rPr>
              <a:t>+20% to +35% higher net realization by bypassing middleman commissions; guaranteed pre-harvest demand.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Rural Micro-Entrepreneurs: </a:t>
            </a:r>
            <a:r>
              <a:rPr b="0" sz="950">
                <a:solidFill>
                  <a:srgbClr val="1E293B"/>
                </a:solidFill>
                <a:latin typeface="Calibri"/>
              </a:rPr>
              <a:t>Accessible PM-FME 35% subsidies and bankable DPRs enable profitable processing units (Dal/Oil/Cold Storage).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Bulk Institutional Buyers: </a:t>
            </a:r>
            <a:r>
              <a:rPr b="0" sz="950">
                <a:solidFill>
                  <a:srgbClr val="1E293B"/>
                </a:solidFill>
                <a:latin typeface="Calibri"/>
              </a:rPr>
              <a:t>Reliable, quality-graded supply at scale with transparent pricing and real-time shipment visibility.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Consumers &amp; Society: </a:t>
            </a:r>
            <a:r>
              <a:rPr b="0" sz="950">
                <a:solidFill>
                  <a:srgbClr val="1E293B"/>
                </a:solidFill>
                <a:latin typeface="Calibri"/>
              </a:rPr>
              <a:t>10% to 18% lower retail food prices; 60% reduction in post-harvest perishable wastage.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Triple-Bottom-Line Benefits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Economic: </a:t>
            </a:r>
            <a:r>
              <a:rPr b="0" sz="950">
                <a:solidFill>
                  <a:srgbClr val="1E293B"/>
                </a:solidFill>
                <a:latin typeface="Calibri"/>
              </a:rPr>
              <a:t>Higher farmgate income, zero payment defaults, creation of local rural agro-processing jobs.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Social: </a:t>
            </a:r>
            <a:r>
              <a:rPr b="0" sz="950">
                <a:solidFill>
                  <a:srgbClr val="1E293B"/>
                </a:solidFill>
                <a:latin typeface="Calibri"/>
              </a:rPr>
              <a:t>Inclusion of smallholder &amp; women farmers; trust built through transparent digital QC and instant DBT payouts.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Environmental: </a:t>
            </a:r>
            <a:r>
              <a:rPr b="0" sz="950">
                <a:solidFill>
                  <a:srgbClr val="1E293B"/>
                </a:solidFill>
                <a:latin typeface="Calibri"/>
              </a:rPr>
              <a:t>Cold-chain integration prevents perishable rotting; optimized transport routes reduce carbon footprint.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Stakeholder Impact Matrix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Farmers &amp; FPOs: </a:t>
            </a:r>
            <a:r>
              <a:rPr b="0" sz="950">
                <a:solidFill>
                  <a:srgbClr val="1E293B"/>
                </a:solidFill>
                <a:latin typeface="Calibri"/>
              </a:rPr>
              <a:t>+20% to +35% higher net realization by bypassing middleman commissions; guaranteed pre-harvest demand.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Rural Micro-Entrepreneurs: </a:t>
            </a:r>
            <a:r>
              <a:rPr b="0" sz="950">
                <a:solidFill>
                  <a:srgbClr val="1E293B"/>
                </a:solidFill>
                <a:latin typeface="Calibri"/>
              </a:rPr>
              <a:t>Accessible PM-FME 35% subsidies and bankable DPRs enable profitable processing units (Dal/Oil/Cold Storage).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Bulk Institutional Buyers: </a:t>
            </a:r>
            <a:r>
              <a:rPr b="0" sz="950">
                <a:solidFill>
                  <a:srgbClr val="1E293B"/>
                </a:solidFill>
                <a:latin typeface="Calibri"/>
              </a:rPr>
              <a:t>Reliable, quality-graded supply at scale with transparent pricing and real-time shipment visibility.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Consumers &amp; Society: </a:t>
            </a:r>
            <a:r>
              <a:rPr b="0" sz="950">
                <a:solidFill>
                  <a:srgbClr val="1E293B"/>
                </a:solidFill>
                <a:latin typeface="Calibri"/>
              </a:rPr>
              <a:t>10% to 18% lower retail food prices; 60% reduction in post-harvest perishable wastage.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Triple-Bottom-Line Benefits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Economic: </a:t>
            </a:r>
            <a:r>
              <a:rPr b="0" sz="950">
                <a:solidFill>
                  <a:srgbClr val="1E293B"/>
                </a:solidFill>
                <a:latin typeface="Calibri"/>
              </a:rPr>
              <a:t>Higher farmgate income, zero payment defaults, creation of local rural agro-processing jobs.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Social: </a:t>
            </a:r>
            <a:r>
              <a:rPr b="0" sz="950">
                <a:solidFill>
                  <a:srgbClr val="1E293B"/>
                </a:solidFill>
                <a:latin typeface="Calibri"/>
              </a:rPr>
              <a:t>Inclusion of smallholder &amp; women farmers; trust built through transparent digital QC and instant DBT payouts.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Environmental: </a:t>
            </a:r>
            <a:r>
              <a:rPr b="0" sz="950">
                <a:solidFill>
                  <a:srgbClr val="1E293B"/>
                </a:solidFill>
                <a:latin typeface="Calibri"/>
              </a:rPr>
              <a:t>Cold-chain integration prevents perishable rotting; optimized transport routes reduce carbon footprint.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Stakeholder Impact Matrix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Farmers &amp; FPOs: </a:t>
            </a:r>
            <a:r>
              <a:rPr b="0" sz="950">
                <a:solidFill>
                  <a:srgbClr val="1E293B"/>
                </a:solidFill>
                <a:latin typeface="Calibri"/>
              </a:rPr>
              <a:t>+20% to +35% higher net realization by bypassing middleman commissions; guaranteed pre-harvest demand.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Rural Micro-Entrepreneurs: </a:t>
            </a:r>
            <a:r>
              <a:rPr b="0" sz="950">
                <a:solidFill>
                  <a:srgbClr val="1E293B"/>
                </a:solidFill>
                <a:latin typeface="Calibri"/>
              </a:rPr>
              <a:t>Accessible PM-FME 35% subsidies and bankable DPRs enable profitable processing units (Dal/Oil/Cold Storage).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Bulk Institutional Buyers: </a:t>
            </a:r>
            <a:r>
              <a:rPr b="0" sz="950">
                <a:solidFill>
                  <a:srgbClr val="1E293B"/>
                </a:solidFill>
                <a:latin typeface="Calibri"/>
              </a:rPr>
              <a:t>Reliable, quality-graded supply at scale with transparent pricing and real-time shipment visibility.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Consumers &amp; Society: </a:t>
            </a:r>
            <a:r>
              <a:rPr b="0" sz="950">
                <a:solidFill>
                  <a:srgbClr val="1E293B"/>
                </a:solidFill>
                <a:latin typeface="Calibri"/>
              </a:rPr>
              <a:t>10% to 18% lower retail food prices; 60% reduction in post-harvest perishable wastage.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Triple-Bottom-Line Benefits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Economic: </a:t>
            </a:r>
            <a:r>
              <a:rPr b="0" sz="950">
                <a:solidFill>
                  <a:srgbClr val="1E293B"/>
                </a:solidFill>
                <a:latin typeface="Calibri"/>
              </a:rPr>
              <a:t>Higher farmgate income, zero payment defaults, creation of local rural agro-processing jobs.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Social: </a:t>
            </a:r>
            <a:r>
              <a:rPr b="0" sz="950">
                <a:solidFill>
                  <a:srgbClr val="1E293B"/>
                </a:solidFill>
                <a:latin typeface="Calibri"/>
              </a:rPr>
              <a:t>Inclusion of smallholder &amp; women farmers; trust built through transparent digital QC and instant DBT payouts.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Environmental: </a:t>
            </a:r>
            <a:r>
              <a:rPr b="0" sz="950">
                <a:solidFill>
                  <a:srgbClr val="1E293B"/>
                </a:solidFill>
                <a:latin typeface="Calibri"/>
              </a:rPr>
              <a:t>Cold-chain integration prevents perishable rotting; optimized transport routes reduce carbon footprint.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Live Prototype Implementation Evidence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Live Working System: </a:t>
            </a:r>
            <a:r>
              <a:rPr b="0" sz="950">
                <a:solidFill>
                  <a:srgbClr val="1E293B"/>
                </a:solidFill>
                <a:latin typeface="Calibri"/>
              </a:rPr>
              <a:t>Agrixora Platform (React 18 / TypeScript / Vite / Turso Distributed LibSQL Cloud DB).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Verified Features: </a:t>
            </a:r>
            <a:r>
              <a:rPr b="0" sz="950">
                <a:solidFill>
                  <a:srgbClr val="1E293B"/>
                </a:solidFill>
                <a:latin typeface="Calibri"/>
              </a:rPr>
              <a:t>Bulk Pre-Orders, AI Business &amp; Subsidy Advisory, Digital QC Labs, GPS Reefer Fleet, Kisan Voice AI.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Government Policies &amp; Institutional Standards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MoA&amp;FW Guidelines: </a:t>
            </a:r>
            <a:r>
              <a:rPr b="0" sz="950">
                <a:solidFill>
                  <a:srgbClr val="1E293B"/>
                </a:solidFill>
                <a:latin typeface="Calibri"/>
              </a:rPr>
              <a:t>Committee on Doubling Farmers' Income (Post-production &amp; direct marketing framework).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MoFPI PM-FME Scheme: </a:t>
            </a:r>
            <a:r>
              <a:rPr b="0" sz="950">
                <a:solidFill>
                  <a:srgbClr val="1E293B"/>
                </a:solidFill>
                <a:latin typeface="Calibri"/>
              </a:rPr>
              <a:t>Pradhan Mantri Formalisation of Micro Food Processing Enterprises (35% Credit-Linked Subsidy).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Agriculture Infra Fund (AIF): </a:t>
            </a:r>
            <a:r>
              <a:rPr b="0" sz="950">
                <a:solidFill>
                  <a:srgbClr val="1E293B"/>
                </a:solidFill>
                <a:latin typeface="Calibri"/>
              </a:rPr>
              <a:t>Central Sector Scheme for 3% interest subvention &amp; credit guarantee coverage up to ₹2.00 Cr.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National Agriculture Market: </a:t>
            </a:r>
            <a:r>
              <a:rPr b="0" sz="950">
                <a:solidFill>
                  <a:srgbClr val="1E293B"/>
                </a:solidFill>
                <a:latin typeface="Calibri"/>
              </a:rPr>
              <a:t>e-NAM &amp; AGMARKNET integration for daily transparent spot price benchmarking.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Academic &amp; Technical Research Citations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ICAR-CIPHET Study: </a:t>
            </a:r>
            <a:r>
              <a:rPr b="0" sz="950">
                <a:solidFill>
                  <a:srgbClr val="1E293B"/>
                </a:solidFill>
                <a:latin typeface="Calibri"/>
              </a:rPr>
              <a:t>Comprehensive assessment of harvest and post-harvest losses in major Indian agricultural crops.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NITI Aayog Policy: </a:t>
            </a:r>
            <a:r>
              <a:rPr b="0" sz="950">
                <a:solidFill>
                  <a:srgbClr val="1E293B"/>
                </a:solidFill>
                <a:latin typeface="Calibri"/>
              </a:rPr>
              <a:t>Report on Agritech Innovations, Farmer-Buyer Linkages, and Decentralized Cold Supply Chains.</a:t>
            </a: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b="1" sz="1900">
                <a:solidFill>
                  <a:srgbClr val="0F172A"/>
                </a:solidFill>
                <a:latin typeface="Calibri"/>
              </a:rPr>
              <a:t>RESEARCH GROUNDING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Live Prototype Implementation Evidence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Live Working System: </a:t>
            </a:r>
            <a:r>
              <a:rPr b="0" sz="950">
                <a:solidFill>
                  <a:srgbClr val="1E293B"/>
                </a:solidFill>
                <a:latin typeface="Calibri"/>
              </a:rPr>
              <a:t>Agrixora Platform (React 18 / TypeScript / Vite / Turso Distributed LibSQL Cloud DB).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Verified Features: </a:t>
            </a:r>
            <a:r>
              <a:rPr b="0" sz="950">
                <a:solidFill>
                  <a:srgbClr val="1E293B"/>
                </a:solidFill>
                <a:latin typeface="Calibri"/>
              </a:rPr>
              <a:t>Bulk Pre-Orders, AI Business &amp; Subsidy Advisory, Digital QC Labs, GPS Reefer Fleet, Kisan Voice AI.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Government Policies &amp; Institutional Standards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MoA&amp;FW Guidelines: </a:t>
            </a:r>
            <a:r>
              <a:rPr b="0" sz="950">
                <a:solidFill>
                  <a:srgbClr val="1E293B"/>
                </a:solidFill>
                <a:latin typeface="Calibri"/>
              </a:rPr>
              <a:t>Committee on Doubling Farmers' Income (Post-production &amp; direct marketing framework).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MoFPI PM-FME Scheme: </a:t>
            </a:r>
            <a:r>
              <a:rPr b="0" sz="950">
                <a:solidFill>
                  <a:srgbClr val="1E293B"/>
                </a:solidFill>
                <a:latin typeface="Calibri"/>
              </a:rPr>
              <a:t>Pradhan Mantri Formalisation of Micro Food Processing Enterprises (35% Credit-Linked Subsidy).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Agriculture Infra Fund (AIF): </a:t>
            </a:r>
            <a:r>
              <a:rPr b="0" sz="950">
                <a:solidFill>
                  <a:srgbClr val="1E293B"/>
                </a:solidFill>
                <a:latin typeface="Calibri"/>
              </a:rPr>
              <a:t>Central Sector Scheme for 3% interest subvention &amp; credit guarantee coverage up to ₹2.00 Cr.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National Agriculture Market: </a:t>
            </a:r>
            <a:r>
              <a:rPr b="0" sz="950">
                <a:solidFill>
                  <a:srgbClr val="1E293B"/>
                </a:solidFill>
                <a:latin typeface="Calibri"/>
              </a:rPr>
              <a:t>e-NAM &amp; AGMARKNET integration for daily transparent spot price benchmarking.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Academic &amp; Technical Research Citations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ICAR-CIPHET Study: </a:t>
            </a:r>
            <a:r>
              <a:rPr b="0" sz="950">
                <a:solidFill>
                  <a:srgbClr val="1E293B"/>
                </a:solidFill>
                <a:latin typeface="Calibri"/>
              </a:rPr>
              <a:t>Comprehensive assessment of harvest and post-harvest losses in major Indian agricultural crops.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NITI Aayog Policy: </a:t>
            </a:r>
            <a:r>
              <a:rPr b="0" sz="950">
                <a:solidFill>
                  <a:srgbClr val="1E293B"/>
                </a:solidFill>
                <a:latin typeface="Calibri"/>
              </a:rPr>
              <a:t>Report on Agritech Innovations, Farmer-Buyer Linkages, and Decentralized Cold Supply Chains.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Live Prototype Implementation Evidence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Live Working System: </a:t>
            </a:r>
            <a:r>
              <a:rPr b="0" sz="950">
                <a:solidFill>
                  <a:srgbClr val="1E293B"/>
                </a:solidFill>
                <a:latin typeface="Calibri"/>
              </a:rPr>
              <a:t>Agrixora Platform (React 18 / TypeScript / Vite / Turso Distributed LibSQL Cloud DB).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Verified Features: </a:t>
            </a:r>
            <a:r>
              <a:rPr b="0" sz="950">
                <a:solidFill>
                  <a:srgbClr val="1E293B"/>
                </a:solidFill>
                <a:latin typeface="Calibri"/>
              </a:rPr>
              <a:t>Bulk Pre-Orders, AI Business &amp; Subsidy Advisory, Digital QC Labs, GPS Reefer Fleet, Kisan Voice AI.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Government Policies &amp; Institutional Standards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MoA&amp;FW Guidelines: </a:t>
            </a:r>
            <a:r>
              <a:rPr b="0" sz="950">
                <a:solidFill>
                  <a:srgbClr val="1E293B"/>
                </a:solidFill>
                <a:latin typeface="Calibri"/>
              </a:rPr>
              <a:t>Committee on Doubling Farmers' Income (Post-production &amp; direct marketing framework).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MoFPI PM-FME Scheme: </a:t>
            </a:r>
            <a:r>
              <a:rPr b="0" sz="950">
                <a:solidFill>
                  <a:srgbClr val="1E293B"/>
                </a:solidFill>
                <a:latin typeface="Calibri"/>
              </a:rPr>
              <a:t>Pradhan Mantri Formalisation of Micro Food Processing Enterprises (35% Credit-Linked Subsidy).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Agriculture Infra Fund (AIF): </a:t>
            </a:r>
            <a:r>
              <a:rPr b="0" sz="950">
                <a:solidFill>
                  <a:srgbClr val="1E293B"/>
                </a:solidFill>
                <a:latin typeface="Calibri"/>
              </a:rPr>
              <a:t>Central Sector Scheme for 3% interest subvention &amp; credit guarantee coverage up to ₹2.00 Cr.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National Agriculture Market: </a:t>
            </a:r>
            <a:r>
              <a:rPr b="0" sz="950">
                <a:solidFill>
                  <a:srgbClr val="1E293B"/>
                </a:solidFill>
                <a:latin typeface="Calibri"/>
              </a:rPr>
              <a:t>e-NAM &amp; AGMARKNET integration for daily transparent spot price benchmarking.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Academic &amp; Technical Research Citations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ICAR-CIPHET Study: </a:t>
            </a:r>
            <a:r>
              <a:rPr b="0" sz="950">
                <a:solidFill>
                  <a:srgbClr val="1E293B"/>
                </a:solidFill>
                <a:latin typeface="Calibri"/>
              </a:rPr>
              <a:t>Comprehensive assessment of harvest and post-harvest losses in major Indian agricultural crops.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NITI Aayog Policy: </a:t>
            </a:r>
            <a:r>
              <a:rPr b="0" sz="950">
                <a:solidFill>
                  <a:srgbClr val="1E293B"/>
                </a:solidFill>
                <a:latin typeface="Calibri"/>
              </a:rPr>
              <a:t>Report on Agritech Innovations, Farmer-Buyer Linkages, and Decentralized Cold Supply Chains.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Live Prototype Implementation Evidence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Live Working System: </a:t>
            </a:r>
            <a:r>
              <a:rPr b="0" sz="950">
                <a:solidFill>
                  <a:srgbClr val="1E293B"/>
                </a:solidFill>
                <a:latin typeface="Calibri"/>
              </a:rPr>
              <a:t>Agrixora Platform (React 18 / TypeScript / Vite / Turso Distributed LibSQL Cloud DB).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Verified Features: </a:t>
            </a:r>
            <a:r>
              <a:rPr b="0" sz="950">
                <a:solidFill>
                  <a:srgbClr val="1E293B"/>
                </a:solidFill>
                <a:latin typeface="Calibri"/>
              </a:rPr>
              <a:t>Bulk Pre-Orders, AI Business &amp; Subsidy Advisory, Digital QC Labs, GPS Reefer Fleet, Kisan Voice AI.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Government Policies &amp; Institutional Standards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MoA&amp;FW Guidelines: </a:t>
            </a:r>
            <a:r>
              <a:rPr b="0" sz="950">
                <a:solidFill>
                  <a:srgbClr val="1E293B"/>
                </a:solidFill>
                <a:latin typeface="Calibri"/>
              </a:rPr>
              <a:t>Committee on Doubling Farmers' Income (Post-production &amp; direct marketing framework).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MoFPI PM-FME Scheme: </a:t>
            </a:r>
            <a:r>
              <a:rPr b="0" sz="950">
                <a:solidFill>
                  <a:srgbClr val="1E293B"/>
                </a:solidFill>
                <a:latin typeface="Calibri"/>
              </a:rPr>
              <a:t>Pradhan Mantri Formalisation of Micro Food Processing Enterprises (35% Credit-Linked Subsidy).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Agriculture Infra Fund (AIF): </a:t>
            </a:r>
            <a:r>
              <a:rPr b="0" sz="950">
                <a:solidFill>
                  <a:srgbClr val="1E293B"/>
                </a:solidFill>
                <a:latin typeface="Calibri"/>
              </a:rPr>
              <a:t>Central Sector Scheme for 3% interest subvention &amp; credit guarantee coverage up to ₹2.00 Cr.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National Agriculture Market: </a:t>
            </a:r>
            <a:r>
              <a:rPr b="0" sz="950">
                <a:solidFill>
                  <a:srgbClr val="1E293B"/>
                </a:solidFill>
                <a:latin typeface="Calibri"/>
              </a:rPr>
              <a:t>e-NAM &amp; AGMARKNET integration for daily transparent spot price benchmarking.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Academic &amp; Technical Research Citations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ICAR-CIPHET Study: </a:t>
            </a:r>
            <a:r>
              <a:rPr b="0" sz="950">
                <a:solidFill>
                  <a:srgbClr val="1E293B"/>
                </a:solidFill>
                <a:latin typeface="Calibri"/>
              </a:rPr>
              <a:t>Comprehensive assessment of harvest and post-harvest losses in major Indian agricultural crops.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NITI Aayog Policy: </a:t>
            </a:r>
            <a:r>
              <a:rPr b="0" sz="950">
                <a:solidFill>
                  <a:srgbClr val="1E293B"/>
                </a:solidFill>
                <a:latin typeface="Calibri"/>
              </a:rPr>
              <a:t>Report on Agritech Innovations, Farmer-Buyer Linkages, and Decentralized Cold Supply Chains.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Live Prototype Implementation Evidence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Live Working System: </a:t>
            </a:r>
            <a:r>
              <a:rPr b="0" sz="950">
                <a:solidFill>
                  <a:srgbClr val="1E293B"/>
                </a:solidFill>
                <a:latin typeface="Calibri"/>
              </a:rPr>
              <a:t>Agrixora Platform (React 18 / TypeScript / Vite / Turso Distributed LibSQL Cloud DB).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Verified Features: </a:t>
            </a:r>
            <a:r>
              <a:rPr b="0" sz="950">
                <a:solidFill>
                  <a:srgbClr val="1E293B"/>
                </a:solidFill>
                <a:latin typeface="Calibri"/>
              </a:rPr>
              <a:t>Bulk Pre-Orders, AI Business &amp; Subsidy Advisory, Digital QC Labs, GPS Reefer Fleet, Kisan Voice AI.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Government Policies &amp; Institutional Standards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MoA&amp;FW Guidelines: </a:t>
            </a:r>
            <a:r>
              <a:rPr b="0" sz="950">
                <a:solidFill>
                  <a:srgbClr val="1E293B"/>
                </a:solidFill>
                <a:latin typeface="Calibri"/>
              </a:rPr>
              <a:t>Committee on Doubling Farmers' Income (Post-production &amp; direct marketing framework).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MoFPI PM-FME Scheme: </a:t>
            </a:r>
            <a:r>
              <a:rPr b="0" sz="950">
                <a:solidFill>
                  <a:srgbClr val="1E293B"/>
                </a:solidFill>
                <a:latin typeface="Calibri"/>
              </a:rPr>
              <a:t>Pradhan Mantri Formalisation of Micro Food Processing Enterprises (35% Credit-Linked Subsidy).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Agriculture Infra Fund (AIF): </a:t>
            </a:r>
            <a:r>
              <a:rPr b="0" sz="950">
                <a:solidFill>
                  <a:srgbClr val="1E293B"/>
                </a:solidFill>
                <a:latin typeface="Calibri"/>
              </a:rPr>
              <a:t>Central Sector Scheme for 3% interest subvention &amp; credit guarantee coverage up to ₹2.00 Cr.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National Agriculture Market: </a:t>
            </a:r>
            <a:r>
              <a:rPr b="0" sz="950">
                <a:solidFill>
                  <a:srgbClr val="1E293B"/>
                </a:solidFill>
                <a:latin typeface="Calibri"/>
              </a:rPr>
              <a:t>e-NAM &amp; AGMARKNET integration for daily transparent spot price benchmarking.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Academic &amp; Technical Research Citations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ICAR-CIPHET Study: </a:t>
            </a:r>
            <a:r>
              <a:rPr b="0" sz="950">
                <a:solidFill>
                  <a:srgbClr val="1E293B"/>
                </a:solidFill>
                <a:latin typeface="Calibri"/>
              </a:rPr>
              <a:t>Comprehensive assessment of harvest and post-harvest losses in major Indian agricultural crops.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NITI Aayog Policy: </a:t>
            </a:r>
            <a:r>
              <a:rPr b="0" sz="950">
                <a:solidFill>
                  <a:srgbClr val="1E293B"/>
                </a:solidFill>
                <a:latin typeface="Calibri"/>
              </a:rPr>
              <a:t>Report on Agritech Innovations, Farmer-Buyer Linkages, and Decentralized Cold Supply Chains.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